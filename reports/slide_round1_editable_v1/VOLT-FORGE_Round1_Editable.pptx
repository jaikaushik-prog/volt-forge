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1F9ED6-FEC9-4303-8A30-314FFDA547C2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9C9013-FACD-4DC0-B741-F75B8B34D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329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Slide purpose: one-page submission draft; not submitted.
Two cells are the smallest qualifying simulated count among the tested 1-4-cell parallel arrangements. No claim of a global optimum, measured improvement, hardware approval or total-system cost reduction.
Table: frozen same-end-output baseline rows, not the opposite-output recommendation and not the new nominal examples. Worst values are across the declared required cases; counts differ with cell positions. Source software 97ca199f2fd21aac, pinned commit c2339a569876da5fc20969ea578a91ae57f33384.
25 W is a supply-rating scenario, not measured Pi workload. 90% conversion and 3.3 V floor are study assumptions. 8.42 A is a constant-current proxy, not a dynamic constant-power converter simulation.
15/15 numerical checks use synthetic electrical/heat-generation cases; they do not validate temperature predictions. All 12 measured-comparison cases missed both bands; cases are not 12 independent module experiments. Current reconciliation and transfer to new assemblies remain uncertain.
Screenshot: original V4 circuit image, not the revised UI and not the comparison-table topology.
Latest implementation changes: d184a49; 515 Python and 71 JavaScript checks passed, 8 archive-dependent checks skipped. They establish software behavior, not experimental battery accuracy. No live browser/user trial claimed.
Buyer/pricing proposal is a hypothesis. No real participant study is claimed. Next actions require suitable measurement access; no outreach performed.
Sources:
https://github.com/jaikaushik-prog/VOLT-FORGE/blob/c2339a569876da5fc20969ea578a91ae57f33384/reports/design_study_v2/run1/summary.json
https://github.com/jaikaushik-prog/VOLT-FORGE/blob/c2339a569876da5fc20969ea578a91ae57f33384/reports/v4_release/study_repeat.json
https://github.com/jaikaushik-prog/VOLT-FORGE/blob/c2339a569876da5fc20969ea578a91ae57f33384/configs/round1_design_study_v2.json
https://github.com/jaikaushik-prog/VOLT-FORGE/blob/c2339a569876da5fc20969ea578a91ae57f33384/reports/numerical_reference_v2/locked_97ca199/verification.json
https://github.com/jaikaushik-prog/VOLT-FORGE/blob/c2339a569876da5fc20969ea578a91ae57f33384/reports/numerical_reference_v2/locked_97ca199/protocol.json
https://github.com/jaikaushik-prog/VOLT-FORGE/blob/c2339a569876da5fc20969ea578a91ae57f33384/reports/measured_comparison_v1/final/result.json
https://github.com/jaikaushik-prog/VOLT-FORGE/blob/c2339a569876da5fc20969ea578a91ae57f33384/configs/measured_comparison_v1.json
https://github.com/jaikaushik-prog/VOLT-FORGE/blob/c2339a569876da5fc20969ea578a91ae57f33384/reports/design_study_v2/RECOMMENDATION.md
https://github.com/jaikaushik-prog/VOLT-FORGE/blob/c2339a569876da5fc20969ea578a91ae57f33384/reports/user_trial_v1/KIT.md
https://github.com/jaikaushik-prog/VOLT-FORGE/blob/c2339a569876da5fc20969ea578a91ae57f33384/configs/business_case_v1.json
https://github.com/jaikaushik-prog/VOLT-FORGE/blob/c2339a569876da5fc20969ea578a91ae57f33384/reports/slide_v4/assets/circuit.png
https://github.com/jaikaushik-prog/VOLT-FORGE/blob/c2339a569876da5fc20969ea578a91ae57f33384/reports/slide_v4/assets/logo_teliport.png
https://github.com/jaikaushik-prog/VOLT-FORGE/blob/c2339a569876da5fc20969ea578a91ae57f33384/reports/slide_v4/assets/logo_tata.png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C9013-FACD-4DC0-B741-F75B8B34DFD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4885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6964A-ED3E-7115-CDC1-2E79222C3A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3B60CB-0D61-E338-50A4-FBD2F91C30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CAB93A-4A3D-1605-62C2-20ED25251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B4AB3-F272-41CB-B0B8-6FB82476B149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7E665-1259-2C37-AB79-03B44890E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07B38-3D94-5276-F4F2-597BB301F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CD9F-33DC-4A99-9CB1-B4D809DD3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317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ACC42-226E-4D54-E0A6-7CD0D4165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F996F-2271-4F03-BC81-02FF92E1F0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446C82-AA2D-2237-0BF9-E70BD8586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B4AB3-F272-41CB-B0B8-6FB82476B149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2003E7-48D0-8004-54C6-0935F1E37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083255-F48A-1AA7-08C4-855A07014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CD9F-33DC-4A99-9CB1-B4D809DD3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698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8350C-1C5A-20BA-DC4C-EA9878041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370432-C059-5877-2191-7F68FC86D4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078BA4-0F64-E2B0-9414-A460D0F6E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B4AB3-F272-41CB-B0B8-6FB82476B149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7FC819-56C2-DCE6-5447-DF6A4C5EF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FFA5A1-CA32-C86E-1DE7-DC62F6DC8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CD9F-33DC-4A99-9CB1-B4D809DD3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050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ED668-6AB7-03FE-6A11-BF68D54D4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90BEF-D3A5-7435-4C69-B1676C240E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839BFC-A137-CF52-8F50-F157518EAF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BFEDED-9476-D71C-E4B6-66F73988C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B4AB3-F272-41CB-B0B8-6FB82476B149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28972C-F98A-F643-65BA-5D17F372D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D847B6-F03E-2981-0F11-90736DBC3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CD9F-33DC-4A99-9CB1-B4D809DD3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718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D6EBF-99B6-D63D-33A3-C21C89A67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CDE3CE-499C-AC39-7D90-9AAC9114A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62BA66-F31D-76E2-D596-EAD9549B75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28C289-8C2F-954D-EEFF-DB0652795D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ACF66B-92B8-8C6D-3E03-A24E334F7F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A797E2-83B5-99E9-B609-4B49005B3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B4AB3-F272-41CB-B0B8-6FB82476B149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8F8999-56A5-334F-4AD3-B3E07B96F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CB85B0-C6D6-0971-B989-12B43E75A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CD9F-33DC-4A99-9CB1-B4D809DD3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735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710FF-BBE0-2743-1FE8-30F2189F0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0492AE-D4A3-30FA-75D7-BE436D7AE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B4AB3-F272-41CB-B0B8-6FB82476B149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8A1AFB-0DBA-FF99-8289-0FEE1EF38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678F01-C5A7-163F-7C34-66D30495F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CD9F-33DC-4A99-9CB1-B4D809DD3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081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7463EE-1D85-D2DE-C60A-CAF8A9CC4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B4AB3-F272-41CB-B0B8-6FB82476B149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5CE8F2-4121-6B70-C844-572D3936A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2A120D-0C09-7D39-7C96-2E6F2A91E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CD9F-33DC-4A99-9CB1-B4D809DD3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541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8BD57-46F1-37D2-D78D-8C7E24792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F7FE9-6A4D-5C96-404F-CDAD3366C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C344F6-12C8-7855-6BD6-6EA2414A64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ECA957-2B7F-2D60-EE8A-0695E4F25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B4AB3-F272-41CB-B0B8-6FB82476B149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F35A70-0FB5-305E-E3B7-558BA1581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C9FDBD-4F14-44C6-6FDA-AD3A5C186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CD9F-33DC-4A99-9CB1-B4D809DD3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035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58072-5AD3-6708-744F-F39267C81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37D560-7592-0AAD-F9B1-0EF8301FAC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4451D9-0472-F65E-2F2D-93AFA2FA3A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2F3F5D-F350-7A09-E1F0-B436E65CE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B4AB3-F272-41CB-B0B8-6FB82476B149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BB659F-0897-A450-4B57-6E3AA566C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4647A6-ED2D-ED24-D387-B351B6B8D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CD9F-33DC-4A99-9CB1-B4D809DD3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592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834C5-4E85-D7F6-8198-BB3D52DD8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02EB73-F0F5-EEC1-200A-9D999F9DFC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DD5B0-3087-0AFB-EE0A-17347B488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B4AB3-F272-41CB-B0B8-6FB82476B149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AFE71-23C7-3F29-A9F1-AE0F1E382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9565AF-C5BC-327C-AB9A-9F7221C4E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CD9F-33DC-4A99-9CB1-B4D809DD3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237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4A7C3D-48B7-6030-F163-9A298D322C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F53470-786D-BD05-D524-9741E40B6A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C68BC8-15AB-AF28-9FBC-226260A02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B4AB3-F272-41CB-B0B8-6FB82476B149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F78667-2437-1E77-1746-EAAD9BD6C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565BC9-9585-C387-FC41-07FCFA39D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CD9F-33DC-4A99-9CB1-B4D809DD3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797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867F9A-E72D-D604-9B76-AAC5DB344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F33171-3361-C7CF-F660-4F5410982B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043D9B-BB97-2E8B-BBAD-797ECFC863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2B4AB3-F272-41CB-B0B8-6FB82476B149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479EAB-860D-BD02-13F0-05DD539835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4E903D-628F-96D5-D01F-87360DB3EA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64CD9F-33DC-4A99-9CB1-B4D809DD3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311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jaikaushik-prog/VOLT-FORGE/tree/v4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TELIPORT logo" descr="TELIPORT logo">
            <a:extLst>
              <a:ext uri="{FF2B5EF4-FFF2-40B4-BE49-F238E27FC236}">
                <a16:creationId xmlns:a16="http://schemas.microsoft.com/office/drawing/2014/main" id="{F3A04236-B6D7-4A5D-9E07-3EC2D109A07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" y="304800"/>
            <a:ext cx="1384300" cy="437516"/>
          </a:xfrm>
          <a:prstGeom prst="rect">
            <a:avLst/>
          </a:prstGeom>
        </p:spPr>
      </p:pic>
      <p:pic>
        <p:nvPicPr>
          <p:cNvPr id="5" name="Tata Elxsi logo" descr="Tata Elxsi logo">
            <a:extLst>
              <a:ext uri="{FF2B5EF4-FFF2-40B4-BE49-F238E27FC236}">
                <a16:creationId xmlns:a16="http://schemas.microsoft.com/office/drawing/2014/main" id="{0C13464A-DBA2-44CC-64D9-9BD4F996984D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3300" y="228600"/>
            <a:ext cx="673100" cy="511726"/>
          </a:xfrm>
          <a:prstGeom prst="rect">
            <a:avLst/>
          </a:prstGeom>
        </p:spPr>
      </p:pic>
      <p:sp>
        <p:nvSpPr>
          <p:cNvPr id="6" name="Product">
            <a:extLst>
              <a:ext uri="{FF2B5EF4-FFF2-40B4-BE49-F238E27FC236}">
                <a16:creationId xmlns:a16="http://schemas.microsoft.com/office/drawing/2014/main" id="{9208E6BE-D9E5-A468-2A85-FC1492DCF124}"/>
              </a:ext>
            </a:extLst>
          </p:cNvPr>
          <p:cNvSpPr txBox="1"/>
          <p:nvPr/>
        </p:nvSpPr>
        <p:spPr>
          <a:xfrm>
            <a:off x="2019300" y="203199"/>
            <a:ext cx="7048500" cy="495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000" b="1">
                <a:solidFill>
                  <a:srgbClr val="163449"/>
                </a:solidFill>
                <a:latin typeface="Arial" panose="020B0604020202020204" pitchFamily="34" charset="0"/>
              </a:rPr>
              <a:t>VOLT-FORGE</a:t>
            </a:r>
          </a:p>
        </p:txBody>
      </p:sp>
      <p:sp>
        <p:nvSpPr>
          <p:cNvPr id="7" name="Product purpose">
            <a:extLst>
              <a:ext uri="{FF2B5EF4-FFF2-40B4-BE49-F238E27FC236}">
                <a16:creationId xmlns:a16="http://schemas.microsoft.com/office/drawing/2014/main" id="{5B71ED84-F134-9A78-4019-16BFCF4FB2F6}"/>
              </a:ext>
            </a:extLst>
          </p:cNvPr>
          <p:cNvSpPr txBox="1"/>
          <p:nvPr/>
        </p:nvSpPr>
        <p:spPr>
          <a:xfrm>
            <a:off x="2032000" y="698499"/>
            <a:ext cx="76454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>
                <a:solidFill>
                  <a:srgbClr val="536B7B"/>
                </a:solidFill>
                <a:latin typeface="Arial" panose="020B0604020202020204" pitchFamily="34" charset="0"/>
              </a:rPr>
              <a:t>A visual workspace for battery trade-offs</a:t>
            </a:r>
          </a:p>
        </p:txBody>
      </p:sp>
      <p:sp>
        <p:nvSpPr>
          <p:cNvPr id="8" name="Case">
            <a:extLst>
              <a:ext uri="{FF2B5EF4-FFF2-40B4-BE49-F238E27FC236}">
                <a16:creationId xmlns:a16="http://schemas.microsoft.com/office/drawing/2014/main" id="{84CF5C95-1F40-B810-6DD2-5CCA0D4E4D14}"/>
              </a:ext>
            </a:extLst>
          </p:cNvPr>
          <p:cNvSpPr txBox="1"/>
          <p:nvPr/>
        </p:nvSpPr>
        <p:spPr>
          <a:xfrm>
            <a:off x="9512300" y="406400"/>
            <a:ext cx="14478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 b="1">
                <a:solidFill>
                  <a:srgbClr val="007BAC"/>
                </a:solidFill>
                <a:latin typeface="Arial" panose="020B0604020202020204" pitchFamily="34" charset="0"/>
              </a:rPr>
              <a:t>CASE STUDY 2</a:t>
            </a:r>
          </a:p>
        </p:txBody>
      </p:sp>
      <p:sp>
        <p:nvSpPr>
          <p:cNvPr id="9" name="Finding">
            <a:extLst>
              <a:ext uri="{FF2B5EF4-FFF2-40B4-BE49-F238E27FC236}">
                <a16:creationId xmlns:a16="http://schemas.microsoft.com/office/drawing/2014/main" id="{81718C47-5CF0-549B-BE65-798EECE48757}"/>
              </a:ext>
            </a:extLst>
          </p:cNvPr>
          <p:cNvSpPr txBox="1"/>
          <p:nvPr/>
        </p:nvSpPr>
        <p:spPr>
          <a:xfrm>
            <a:off x="342900" y="1130299"/>
            <a:ext cx="115062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500" b="1">
                <a:solidFill>
                  <a:srgbClr val="163449"/>
                </a:solidFill>
                <a:latin typeface="Arial" panose="020B0604020202020204" pitchFamily="34" charset="0"/>
              </a:rPr>
              <a:t>Two cells are a simulation candidate</a:t>
            </a:r>
          </a:p>
        </p:txBody>
      </p:sp>
      <p:sp>
        <p:nvSpPr>
          <p:cNvPr id="10" name="Trade-off">
            <a:extLst>
              <a:ext uri="{FF2B5EF4-FFF2-40B4-BE49-F238E27FC236}">
                <a16:creationId xmlns:a16="http://schemas.microsoft.com/office/drawing/2014/main" id="{934D9FEC-ED99-58EC-4C69-92FB3FE3CDFA}"/>
              </a:ext>
            </a:extLst>
          </p:cNvPr>
          <p:cNvSpPr txBox="1"/>
          <p:nvPr/>
        </p:nvSpPr>
        <p:spPr>
          <a:xfrm>
            <a:off x="355600" y="1574799"/>
            <a:ext cx="114554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50">
                <a:solidFill>
                  <a:srgbClr val="243E4F"/>
                </a:solidFill>
                <a:latin typeface="Arial" panose="020B0604020202020204" pitchFamily="34" charset="0"/>
              </a:rPr>
              <a:t>Smallest qualifying count tested (1-4 cells): half the baseline's cell cost and mass, with less electrical margin.</a:t>
            </a:r>
          </a:p>
        </p:txBody>
      </p:sp>
      <p:sp>
        <p:nvSpPr>
          <p:cNvPr id="11" name="Conditions">
            <a:extLst>
              <a:ext uri="{FF2B5EF4-FFF2-40B4-BE49-F238E27FC236}">
                <a16:creationId xmlns:a16="http://schemas.microsoft.com/office/drawing/2014/main" id="{DA2E9704-42D1-2849-1A40-D69F970C80F8}"/>
              </a:ext>
            </a:extLst>
          </p:cNvPr>
          <p:cNvSpPr txBox="1"/>
          <p:nvPr/>
        </p:nvSpPr>
        <p:spPr>
          <a:xfrm>
            <a:off x="355600" y="1955800"/>
            <a:ext cx="11480800" cy="241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50">
                <a:solidFill>
                  <a:srgbClr val="243E4F"/>
                </a:solidFill>
                <a:latin typeface="Arial" panose="020B0604020202020204" pitchFamily="34" charset="0"/>
              </a:rPr>
              <a:t>Pi 5 backup | LG M50T | 25 W supply-rating scenario | 10 min | 23°C | 70% starting SOC</a:t>
            </a:r>
          </a:p>
        </p:txBody>
      </p:sp>
      <p:sp>
        <p:nvSpPr>
          <p:cNvPr id="12" name="Assumptions">
            <a:extLst>
              <a:ext uri="{FF2B5EF4-FFF2-40B4-BE49-F238E27FC236}">
                <a16:creationId xmlns:a16="http://schemas.microsoft.com/office/drawing/2014/main" id="{D78E1225-BC54-D7A6-E87B-03E7BF04DF21}"/>
              </a:ext>
            </a:extLst>
          </p:cNvPr>
          <p:cNvSpPr txBox="1"/>
          <p:nvPr/>
        </p:nvSpPr>
        <p:spPr>
          <a:xfrm>
            <a:off x="355600" y="2222500"/>
            <a:ext cx="11480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10">
                <a:solidFill>
                  <a:srgbClr val="536B7B"/>
                </a:solidFill>
                <a:latin typeface="Arial" panose="020B0604020202020204" pitchFamily="34" charset="0"/>
              </a:rPr>
              <a:t>90% converter assumed | 3.3 V study floor | 8.42 A constant-current proxy | actual Pi draw not measured</a:t>
            </a:r>
          </a:p>
        </p:txBody>
      </p:sp>
      <p:sp>
        <p:nvSpPr>
          <p:cNvPr id="13" name="Workflow heading">
            <a:extLst>
              <a:ext uri="{FF2B5EF4-FFF2-40B4-BE49-F238E27FC236}">
                <a16:creationId xmlns:a16="http://schemas.microsoft.com/office/drawing/2014/main" id="{2C6E3E3E-1C2A-618D-7FD9-06308EBDC8D6}"/>
              </a:ext>
            </a:extLst>
          </p:cNvPr>
          <p:cNvSpPr txBox="1"/>
          <p:nvPr/>
        </p:nvSpPr>
        <p:spPr>
          <a:xfrm>
            <a:off x="355600" y="2527300"/>
            <a:ext cx="45085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50" b="1">
                <a:solidFill>
                  <a:srgbClr val="007BAC"/>
                </a:solidFill>
                <a:latin typeface="Arial" panose="020B0604020202020204" pitchFamily="34" charset="0"/>
              </a:rPr>
              <a:t>BUILD, TEST, UNDERSTAND</a:t>
            </a:r>
          </a:p>
        </p:txBody>
      </p:sp>
      <p:pic>
        <p:nvPicPr>
          <p:cNvPr id="15" name="Original V4 editor screenshot; illustrative circuit, not the study table" descr="Original V4 editor screenshot; illustrative circuit, not the study table">
            <a:extLst>
              <a:ext uri="{FF2B5EF4-FFF2-40B4-BE49-F238E27FC236}">
                <a16:creationId xmlns:a16="http://schemas.microsoft.com/office/drawing/2014/main" id="{9F2596D7-FC2B-4C87-1CB4-10D3F197AA44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" y="2857500"/>
            <a:ext cx="4572000" cy="1348154"/>
          </a:xfrm>
          <a:prstGeom prst="rect">
            <a:avLst/>
          </a:prstGeom>
        </p:spPr>
      </p:pic>
      <p:sp>
        <p:nvSpPr>
          <p:cNvPr id="16" name="Screenshot qualification">
            <a:extLst>
              <a:ext uri="{FF2B5EF4-FFF2-40B4-BE49-F238E27FC236}">
                <a16:creationId xmlns:a16="http://schemas.microsoft.com/office/drawing/2014/main" id="{F6ED4043-05EF-B26D-1C24-9DC64C8C9585}"/>
              </a:ext>
            </a:extLst>
          </p:cNvPr>
          <p:cNvSpPr txBox="1"/>
          <p:nvPr/>
        </p:nvSpPr>
        <p:spPr>
          <a:xfrm>
            <a:off x="355600" y="4254500"/>
            <a:ext cx="45974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20">
                <a:solidFill>
                  <a:srgbClr val="536B7B"/>
                </a:solidFill>
                <a:latin typeface="Arial" panose="020B0604020202020204" pitchFamily="34" charset="0"/>
              </a:rPr>
              <a:t>Original V4 editor; illustrative circuit, not the study table.</a:t>
            </a:r>
          </a:p>
        </p:txBody>
      </p:sp>
      <p:sp>
        <p:nvSpPr>
          <p:cNvPr id="17" name="User value">
            <a:extLst>
              <a:ext uri="{FF2B5EF4-FFF2-40B4-BE49-F238E27FC236}">
                <a16:creationId xmlns:a16="http://schemas.microsoft.com/office/drawing/2014/main" id="{6D3B220E-FA16-A6B2-2833-0D9200F4D03C}"/>
              </a:ext>
            </a:extLst>
          </p:cNvPr>
          <p:cNvSpPr txBox="1"/>
          <p:nvPr/>
        </p:nvSpPr>
        <p:spPr>
          <a:xfrm>
            <a:off x="355600" y="4521199"/>
            <a:ext cx="46355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70">
                <a:solidFill>
                  <a:srgbClr val="243E4F"/>
                </a:solidFill>
                <a:latin typeface="Arial" panose="020B0604020202020204" pitchFamily="34" charset="0"/>
              </a:rPr>
              <a:t>For students and lab instructors: edit a circuit, inspect
current, voltage and simulated temperature, then
compare alternatives and export the evidence.</a:t>
            </a:r>
          </a:p>
        </p:txBody>
      </p:sp>
      <p:sp>
        <p:nvSpPr>
          <p:cNvPr id="18" name="Comparison heading">
            <a:extLst>
              <a:ext uri="{FF2B5EF4-FFF2-40B4-BE49-F238E27FC236}">
                <a16:creationId xmlns:a16="http://schemas.microsoft.com/office/drawing/2014/main" id="{E7CADA36-44EB-F662-59A4-0297C8E77345}"/>
              </a:ext>
            </a:extLst>
          </p:cNvPr>
          <p:cNvSpPr txBox="1"/>
          <p:nvPr/>
        </p:nvSpPr>
        <p:spPr>
          <a:xfrm>
            <a:off x="5270500" y="2527300"/>
            <a:ext cx="65659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50" b="1">
                <a:solidFill>
                  <a:srgbClr val="007BAC"/>
                </a:solidFill>
                <a:latin typeface="Arial" panose="020B0604020202020204" pitchFamily="34" charset="0"/>
              </a:rPr>
              <a:t>BASELINE + TWO ALTERNATIVES</a:t>
            </a:r>
          </a:p>
        </p:txBody>
      </p:sp>
      <p:graphicFrame>
        <p:nvGraphicFramePr>
          <p:cNvPr id="19" name="Editable frozen-study comparison">
            <a:extLst>
              <a:ext uri="{FF2B5EF4-FFF2-40B4-BE49-F238E27FC236}">
                <a16:creationId xmlns:a16="http://schemas.microsoft.com/office/drawing/2014/main" id="{875F8B76-4A05-6449-043E-B543E5C4F6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9292296"/>
              </p:ext>
            </p:extLst>
          </p:nvPr>
        </p:nvGraphicFramePr>
        <p:xfrm>
          <a:off x="5270500" y="2857500"/>
          <a:ext cx="6565900" cy="142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238398407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4265991337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901569128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94392542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4032036556"/>
                    </a:ext>
                  </a:extLst>
                </a:gridCol>
                <a:gridCol w="1282700">
                  <a:extLst>
                    <a:ext uri="{9D8B030D-6E8A-4147-A177-3AD203B41FA5}">
                      <a16:colId xmlns:a16="http://schemas.microsoft.com/office/drawing/2014/main" val="1061963909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6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Parallel
design</a:t>
                      </a:r>
                    </a:p>
                  </a:txBody>
                  <a:tcPr marL="88900" marR="88900" marT="38100" marB="38100" anchor="ctr">
                    <a:lnL w="5080" cmpd="sng">
                      <a:solidFill>
                        <a:srgbClr val="DCE6EC"/>
                      </a:solidFill>
                    </a:lnL>
                    <a:lnR w="5080" cmpd="sng">
                      <a:solidFill>
                        <a:srgbClr val="DCE6EC"/>
                      </a:solidFill>
                    </a:lnR>
                    <a:lnT w="5080" cmpd="sng">
                      <a:solidFill>
                        <a:srgbClr val="DCE6EC"/>
                      </a:solidFill>
                    </a:lnT>
                    <a:lnB w="5080" cmpd="sng">
                      <a:solidFill>
                        <a:srgbClr val="DCE6EC"/>
                      </a:solidFill>
                    </a:lnB>
                    <a:solidFill>
                      <a:srgbClr val="16344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6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Required
passes</a:t>
                      </a:r>
                    </a:p>
                  </a:txBody>
                  <a:tcPr marL="88900" marR="88900" marT="38100" marB="38100" anchor="ctr">
                    <a:lnL w="5080" cmpd="sng">
                      <a:solidFill>
                        <a:srgbClr val="DCE6EC"/>
                      </a:solidFill>
                    </a:lnL>
                    <a:lnR w="5080" cmpd="sng">
                      <a:solidFill>
                        <a:srgbClr val="DCE6EC"/>
                      </a:solidFill>
                    </a:lnR>
                    <a:lnT w="5080" cmpd="sng">
                      <a:solidFill>
                        <a:srgbClr val="DCE6EC"/>
                      </a:solidFill>
                    </a:lnT>
                    <a:lnB w="5080" cmpd="sng">
                      <a:solidFill>
                        <a:srgbClr val="DCE6EC"/>
                      </a:solidFill>
                    </a:lnB>
                    <a:solidFill>
                      <a:srgbClr val="16344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6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Worst cell
current</a:t>
                      </a:r>
                    </a:p>
                  </a:txBody>
                  <a:tcPr marL="88900" marR="88900" marT="38100" marB="38100" anchor="ctr">
                    <a:lnL w="5080" cmpd="sng">
                      <a:solidFill>
                        <a:srgbClr val="DCE6EC"/>
                      </a:solidFill>
                    </a:lnL>
                    <a:lnR w="5080" cmpd="sng">
                      <a:solidFill>
                        <a:srgbClr val="DCE6EC"/>
                      </a:solidFill>
                    </a:lnR>
                    <a:lnT w="5080" cmpd="sng">
                      <a:solidFill>
                        <a:srgbClr val="DCE6EC"/>
                      </a:solidFill>
                    </a:lnT>
                    <a:lnB w="5080" cmpd="sng">
                      <a:solidFill>
                        <a:srgbClr val="DCE6EC"/>
                      </a:solidFill>
                    </a:lnB>
                    <a:solidFill>
                      <a:srgbClr val="16344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6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Worst cell
temperature</a:t>
                      </a:r>
                    </a:p>
                  </a:txBody>
                  <a:tcPr marL="88900" marR="88900" marT="38100" marB="38100" anchor="ctr">
                    <a:lnL w="5080" cmpd="sng">
                      <a:solidFill>
                        <a:srgbClr val="DCE6EC"/>
                      </a:solidFill>
                    </a:lnL>
                    <a:lnR w="5080" cmpd="sng">
                      <a:solidFill>
                        <a:srgbClr val="DCE6EC"/>
                      </a:solidFill>
                    </a:lnR>
                    <a:lnT w="5080" cmpd="sng">
                      <a:solidFill>
                        <a:srgbClr val="DCE6EC"/>
                      </a:solidFill>
                    </a:lnT>
                    <a:lnB w="5080" cmpd="sng">
                      <a:solidFill>
                        <a:srgbClr val="DCE6EC"/>
                      </a:solidFill>
                    </a:lnB>
                    <a:solidFill>
                      <a:srgbClr val="16344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6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Cell
mass</a:t>
                      </a:r>
                    </a:p>
                  </a:txBody>
                  <a:tcPr marL="88900" marR="88900" marT="38100" marB="38100" anchor="ctr">
                    <a:lnL w="5080" cmpd="sng">
                      <a:solidFill>
                        <a:srgbClr val="DCE6EC"/>
                      </a:solidFill>
                    </a:lnL>
                    <a:lnR w="5080" cmpd="sng">
                      <a:solidFill>
                        <a:srgbClr val="DCE6EC"/>
                      </a:solidFill>
                    </a:lnR>
                    <a:lnT w="5080" cmpd="sng">
                      <a:solidFill>
                        <a:srgbClr val="DCE6EC"/>
                      </a:solidFill>
                    </a:lnT>
                    <a:lnB w="5080" cmpd="sng">
                      <a:solidFill>
                        <a:srgbClr val="DCE6EC"/>
                      </a:solidFill>
                    </a:lnB>
                    <a:solidFill>
                      <a:srgbClr val="16344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6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Listed
cell cost</a:t>
                      </a:r>
                    </a:p>
                  </a:txBody>
                  <a:tcPr marL="88900" marR="88900" marT="38100" marB="38100" anchor="ctr">
                    <a:lnL w="5080" cmpd="sng">
                      <a:solidFill>
                        <a:srgbClr val="DCE6EC"/>
                      </a:solidFill>
                    </a:lnL>
                    <a:lnR w="5080" cmpd="sng">
                      <a:solidFill>
                        <a:srgbClr val="DCE6EC"/>
                      </a:solidFill>
                    </a:lnR>
                    <a:lnT w="5080" cmpd="sng">
                      <a:solidFill>
                        <a:srgbClr val="DCE6EC"/>
                      </a:solidFill>
                    </a:lnT>
                    <a:lnB w="5080" cmpd="sng">
                      <a:solidFill>
                        <a:srgbClr val="DCE6EC"/>
                      </a:solidFill>
                    </a:lnB>
                    <a:solidFill>
                      <a:srgbClr val="1634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34257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20" b="0">
                          <a:solidFill>
                            <a:srgbClr val="243E4F"/>
                          </a:solidFill>
                          <a:latin typeface="Arial" panose="020B0604020202020204" pitchFamily="34" charset="0"/>
                        </a:rPr>
                        <a:t>4 cells</a:t>
                      </a:r>
                    </a:p>
                  </a:txBody>
                  <a:tcPr marL="88900" marR="88900" marT="38100" marB="38100" anchor="ctr">
                    <a:lnL w="5080" cmpd="sng">
                      <a:solidFill>
                        <a:srgbClr val="DCE6EC"/>
                      </a:solidFill>
                    </a:lnL>
                    <a:lnR w="5080" cmpd="sng">
                      <a:solidFill>
                        <a:srgbClr val="DCE6EC"/>
                      </a:solidFill>
                    </a:lnR>
                    <a:lnT w="5080" cmpd="sng">
                      <a:solidFill>
                        <a:srgbClr val="DCE6EC"/>
                      </a:solidFill>
                    </a:lnT>
                    <a:lnB w="5080" cmpd="sng">
                      <a:solidFill>
                        <a:srgbClr val="DCE6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30" b="0">
                          <a:solidFill>
                            <a:srgbClr val="243E4F"/>
                          </a:solidFill>
                          <a:latin typeface="Arial" panose="020B0604020202020204" pitchFamily="34" charset="0"/>
                        </a:rPr>
                        <a:t>51/51</a:t>
                      </a:r>
                    </a:p>
                  </a:txBody>
                  <a:tcPr marL="88900" marR="88900" marT="38100" marB="38100" anchor="ctr">
                    <a:lnL w="5080" cmpd="sng">
                      <a:solidFill>
                        <a:srgbClr val="DCE6EC"/>
                      </a:solidFill>
                    </a:lnL>
                    <a:lnR w="5080" cmpd="sng">
                      <a:solidFill>
                        <a:srgbClr val="DCE6EC"/>
                      </a:solidFill>
                    </a:lnR>
                    <a:lnT w="5080" cmpd="sng">
                      <a:solidFill>
                        <a:srgbClr val="DCE6EC"/>
                      </a:solidFill>
                    </a:lnT>
                    <a:lnB w="5080" cmpd="sng">
                      <a:solidFill>
                        <a:srgbClr val="DCE6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30" b="0">
                          <a:solidFill>
                            <a:srgbClr val="243E4F"/>
                          </a:solidFill>
                          <a:latin typeface="Arial" panose="020B0604020202020204" pitchFamily="34" charset="0"/>
                        </a:rPr>
                        <a:t>3.34 A</a:t>
                      </a:r>
                    </a:p>
                  </a:txBody>
                  <a:tcPr marL="88900" marR="88900" marT="38100" marB="38100" anchor="ctr">
                    <a:lnL w="5080" cmpd="sng">
                      <a:solidFill>
                        <a:srgbClr val="DCE6EC"/>
                      </a:solidFill>
                    </a:lnL>
                    <a:lnR w="5080" cmpd="sng">
                      <a:solidFill>
                        <a:srgbClr val="DCE6EC"/>
                      </a:solidFill>
                    </a:lnR>
                    <a:lnT w="5080" cmpd="sng">
                      <a:solidFill>
                        <a:srgbClr val="DCE6EC"/>
                      </a:solidFill>
                    </a:lnT>
                    <a:lnB w="5080" cmpd="sng">
                      <a:solidFill>
                        <a:srgbClr val="DCE6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30" b="0">
                          <a:solidFill>
                            <a:srgbClr val="243E4F"/>
                          </a:solidFill>
                          <a:latin typeface="Arial" panose="020B0604020202020204" pitchFamily="34" charset="0"/>
                        </a:rPr>
                        <a:t>26.1°C</a:t>
                      </a:r>
                    </a:p>
                  </a:txBody>
                  <a:tcPr marL="88900" marR="88900" marT="38100" marB="38100" anchor="ctr">
                    <a:lnL w="5080" cmpd="sng">
                      <a:solidFill>
                        <a:srgbClr val="DCE6EC"/>
                      </a:solidFill>
                    </a:lnL>
                    <a:lnR w="5080" cmpd="sng">
                      <a:solidFill>
                        <a:srgbClr val="DCE6EC"/>
                      </a:solidFill>
                    </a:lnR>
                    <a:lnT w="5080" cmpd="sng">
                      <a:solidFill>
                        <a:srgbClr val="DCE6EC"/>
                      </a:solidFill>
                    </a:lnT>
                    <a:lnB w="5080" cmpd="sng">
                      <a:solidFill>
                        <a:srgbClr val="DCE6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30" b="0">
                          <a:solidFill>
                            <a:srgbClr val="243E4F"/>
                          </a:solidFill>
                          <a:latin typeface="Arial" panose="020B0604020202020204" pitchFamily="34" charset="0"/>
                        </a:rPr>
                        <a:t>280 g</a:t>
                      </a:r>
                    </a:p>
                  </a:txBody>
                  <a:tcPr marL="88900" marR="88900" marT="38100" marB="38100" anchor="ctr">
                    <a:lnL w="5080" cmpd="sng">
                      <a:solidFill>
                        <a:srgbClr val="DCE6EC"/>
                      </a:solidFill>
                    </a:lnL>
                    <a:lnR w="5080" cmpd="sng">
                      <a:solidFill>
                        <a:srgbClr val="DCE6EC"/>
                      </a:solidFill>
                    </a:lnR>
                    <a:lnT w="5080" cmpd="sng">
                      <a:solidFill>
                        <a:srgbClr val="DCE6EC"/>
                      </a:solidFill>
                    </a:lnT>
                    <a:lnB w="5080" cmpd="sng">
                      <a:solidFill>
                        <a:srgbClr val="DCE6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30" b="0">
                          <a:solidFill>
                            <a:srgbClr val="243E4F"/>
                          </a:solidFill>
                          <a:latin typeface="Arial" panose="020B0604020202020204" pitchFamily="34" charset="0"/>
                        </a:rPr>
                        <a:t>₹4,824</a:t>
                      </a:r>
                    </a:p>
                  </a:txBody>
                  <a:tcPr marL="88900" marR="88900" marT="38100" marB="38100" anchor="ctr">
                    <a:lnL w="5080" cmpd="sng">
                      <a:solidFill>
                        <a:srgbClr val="DCE6EC"/>
                      </a:solidFill>
                    </a:lnL>
                    <a:lnR w="5080" cmpd="sng">
                      <a:solidFill>
                        <a:srgbClr val="DCE6EC"/>
                      </a:solidFill>
                    </a:lnR>
                    <a:lnT w="5080" cmpd="sng">
                      <a:solidFill>
                        <a:srgbClr val="DCE6EC"/>
                      </a:solidFill>
                    </a:lnT>
                    <a:lnB w="5080" cmpd="sng">
                      <a:solidFill>
                        <a:srgbClr val="DCE6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997486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20" b="0">
                          <a:solidFill>
                            <a:srgbClr val="243E4F"/>
                          </a:solidFill>
                          <a:latin typeface="Arial" panose="020B0604020202020204" pitchFamily="34" charset="0"/>
                        </a:rPr>
                        <a:t>3 cells</a:t>
                      </a:r>
                    </a:p>
                  </a:txBody>
                  <a:tcPr marL="88900" marR="88900" marT="38100" marB="38100" anchor="ctr">
                    <a:lnL w="5080" cmpd="sng">
                      <a:solidFill>
                        <a:srgbClr val="DCE6EC"/>
                      </a:solidFill>
                    </a:lnL>
                    <a:lnR w="5080" cmpd="sng">
                      <a:solidFill>
                        <a:srgbClr val="DCE6EC"/>
                      </a:solidFill>
                    </a:lnR>
                    <a:lnT w="5080" cmpd="sng">
                      <a:solidFill>
                        <a:srgbClr val="DCE6EC"/>
                      </a:solidFill>
                    </a:lnT>
                    <a:lnB w="5080" cmpd="sng">
                      <a:solidFill>
                        <a:srgbClr val="DCE6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30" b="0">
                          <a:solidFill>
                            <a:srgbClr val="243E4F"/>
                          </a:solidFill>
                          <a:latin typeface="Arial" panose="020B0604020202020204" pitchFamily="34" charset="0"/>
                        </a:rPr>
                        <a:t>42/42</a:t>
                      </a:r>
                    </a:p>
                  </a:txBody>
                  <a:tcPr marL="88900" marR="88900" marT="38100" marB="38100" anchor="ctr">
                    <a:lnL w="5080" cmpd="sng">
                      <a:solidFill>
                        <a:srgbClr val="DCE6EC"/>
                      </a:solidFill>
                    </a:lnL>
                    <a:lnR w="5080" cmpd="sng">
                      <a:solidFill>
                        <a:srgbClr val="DCE6EC"/>
                      </a:solidFill>
                    </a:lnR>
                    <a:lnT w="5080" cmpd="sng">
                      <a:solidFill>
                        <a:srgbClr val="DCE6EC"/>
                      </a:solidFill>
                    </a:lnT>
                    <a:lnB w="5080" cmpd="sng">
                      <a:solidFill>
                        <a:srgbClr val="DCE6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30" b="0">
                          <a:solidFill>
                            <a:srgbClr val="243E4F"/>
                          </a:solidFill>
                          <a:latin typeface="Arial" panose="020B0604020202020204" pitchFamily="34" charset="0"/>
                        </a:rPr>
                        <a:t>3.86 A</a:t>
                      </a:r>
                    </a:p>
                  </a:txBody>
                  <a:tcPr marL="88900" marR="88900" marT="38100" marB="38100" anchor="ctr">
                    <a:lnL w="5080" cmpd="sng">
                      <a:solidFill>
                        <a:srgbClr val="DCE6EC"/>
                      </a:solidFill>
                    </a:lnL>
                    <a:lnR w="5080" cmpd="sng">
                      <a:solidFill>
                        <a:srgbClr val="DCE6EC"/>
                      </a:solidFill>
                    </a:lnR>
                    <a:lnT w="5080" cmpd="sng">
                      <a:solidFill>
                        <a:srgbClr val="DCE6EC"/>
                      </a:solidFill>
                    </a:lnT>
                    <a:lnB w="5080" cmpd="sng">
                      <a:solidFill>
                        <a:srgbClr val="DCE6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30" b="0">
                          <a:solidFill>
                            <a:srgbClr val="243E4F"/>
                          </a:solidFill>
                          <a:latin typeface="Arial" panose="020B0604020202020204" pitchFamily="34" charset="0"/>
                        </a:rPr>
                        <a:t>27.7°C</a:t>
                      </a:r>
                    </a:p>
                  </a:txBody>
                  <a:tcPr marL="88900" marR="88900" marT="38100" marB="38100" anchor="ctr">
                    <a:lnL w="5080" cmpd="sng">
                      <a:solidFill>
                        <a:srgbClr val="DCE6EC"/>
                      </a:solidFill>
                    </a:lnL>
                    <a:lnR w="5080" cmpd="sng">
                      <a:solidFill>
                        <a:srgbClr val="DCE6EC"/>
                      </a:solidFill>
                    </a:lnR>
                    <a:lnT w="5080" cmpd="sng">
                      <a:solidFill>
                        <a:srgbClr val="DCE6EC"/>
                      </a:solidFill>
                    </a:lnT>
                    <a:lnB w="5080" cmpd="sng">
                      <a:solidFill>
                        <a:srgbClr val="DCE6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30" b="0">
                          <a:solidFill>
                            <a:srgbClr val="243E4F"/>
                          </a:solidFill>
                          <a:latin typeface="Arial" panose="020B0604020202020204" pitchFamily="34" charset="0"/>
                        </a:rPr>
                        <a:t>210 g</a:t>
                      </a:r>
                    </a:p>
                  </a:txBody>
                  <a:tcPr marL="88900" marR="88900" marT="38100" marB="38100" anchor="ctr">
                    <a:lnL w="5080" cmpd="sng">
                      <a:solidFill>
                        <a:srgbClr val="DCE6EC"/>
                      </a:solidFill>
                    </a:lnL>
                    <a:lnR w="5080" cmpd="sng">
                      <a:solidFill>
                        <a:srgbClr val="DCE6EC"/>
                      </a:solidFill>
                    </a:lnR>
                    <a:lnT w="5080" cmpd="sng">
                      <a:solidFill>
                        <a:srgbClr val="DCE6EC"/>
                      </a:solidFill>
                    </a:lnT>
                    <a:lnB w="5080" cmpd="sng">
                      <a:solidFill>
                        <a:srgbClr val="DCE6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30" b="0">
                          <a:solidFill>
                            <a:srgbClr val="243E4F"/>
                          </a:solidFill>
                          <a:latin typeface="Arial" panose="020B0604020202020204" pitchFamily="34" charset="0"/>
                        </a:rPr>
                        <a:t>₹3,618</a:t>
                      </a:r>
                    </a:p>
                  </a:txBody>
                  <a:tcPr marL="88900" marR="88900" marT="38100" marB="38100" anchor="ctr">
                    <a:lnL w="5080" cmpd="sng">
                      <a:solidFill>
                        <a:srgbClr val="DCE6EC"/>
                      </a:solidFill>
                    </a:lnL>
                    <a:lnR w="5080" cmpd="sng">
                      <a:solidFill>
                        <a:srgbClr val="DCE6EC"/>
                      </a:solidFill>
                    </a:lnR>
                    <a:lnT w="5080" cmpd="sng">
                      <a:solidFill>
                        <a:srgbClr val="DCE6EC"/>
                      </a:solidFill>
                    </a:lnT>
                    <a:lnB w="5080" cmpd="sng">
                      <a:solidFill>
                        <a:srgbClr val="DCE6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60871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20" b="1">
                          <a:solidFill>
                            <a:srgbClr val="243E4F"/>
                          </a:solidFill>
                          <a:latin typeface="Arial" panose="020B0604020202020204" pitchFamily="34" charset="0"/>
                        </a:rPr>
                        <a:t>2 cells</a:t>
                      </a:r>
                    </a:p>
                  </a:txBody>
                  <a:tcPr marL="88900" marR="88900" marT="38100" marB="38100" anchor="ctr">
                    <a:lnL w="5080" cmpd="sng">
                      <a:solidFill>
                        <a:srgbClr val="DCE6EC"/>
                      </a:solidFill>
                    </a:lnL>
                    <a:lnR w="5080" cmpd="sng">
                      <a:solidFill>
                        <a:srgbClr val="DCE6EC"/>
                      </a:solidFill>
                    </a:lnR>
                    <a:lnT w="5080" cmpd="sng">
                      <a:solidFill>
                        <a:srgbClr val="DCE6EC"/>
                      </a:solidFill>
                    </a:lnT>
                    <a:lnB w="5080" cmpd="sng">
                      <a:solidFill>
                        <a:srgbClr val="DCE6EC"/>
                      </a:solidFill>
                    </a:lnB>
                    <a:solidFill>
                      <a:srgbClr val="EA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30" b="1">
                          <a:solidFill>
                            <a:srgbClr val="243E4F"/>
                          </a:solidFill>
                          <a:latin typeface="Arial" panose="020B0604020202020204" pitchFamily="34" charset="0"/>
                        </a:rPr>
                        <a:t>33/33</a:t>
                      </a:r>
                    </a:p>
                  </a:txBody>
                  <a:tcPr marL="88900" marR="88900" marT="38100" marB="38100" anchor="ctr">
                    <a:lnL w="5080" cmpd="sng">
                      <a:solidFill>
                        <a:srgbClr val="DCE6EC"/>
                      </a:solidFill>
                    </a:lnL>
                    <a:lnR w="5080" cmpd="sng">
                      <a:solidFill>
                        <a:srgbClr val="DCE6EC"/>
                      </a:solidFill>
                    </a:lnR>
                    <a:lnT w="5080" cmpd="sng">
                      <a:solidFill>
                        <a:srgbClr val="DCE6EC"/>
                      </a:solidFill>
                    </a:lnT>
                    <a:lnB w="5080" cmpd="sng">
                      <a:solidFill>
                        <a:srgbClr val="DCE6EC"/>
                      </a:solidFill>
                    </a:lnB>
                    <a:solidFill>
                      <a:srgbClr val="EA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30" b="1">
                          <a:solidFill>
                            <a:srgbClr val="243E4F"/>
                          </a:solidFill>
                          <a:latin typeface="Arial" panose="020B0604020202020204" pitchFamily="34" charset="0"/>
                        </a:rPr>
                        <a:t>5.49 A</a:t>
                      </a:r>
                    </a:p>
                  </a:txBody>
                  <a:tcPr marL="88900" marR="88900" marT="38100" marB="38100" anchor="ctr">
                    <a:lnL w="5080" cmpd="sng">
                      <a:solidFill>
                        <a:srgbClr val="DCE6EC"/>
                      </a:solidFill>
                    </a:lnL>
                    <a:lnR w="5080" cmpd="sng">
                      <a:solidFill>
                        <a:srgbClr val="DCE6EC"/>
                      </a:solidFill>
                    </a:lnR>
                    <a:lnT w="5080" cmpd="sng">
                      <a:solidFill>
                        <a:srgbClr val="DCE6EC"/>
                      </a:solidFill>
                    </a:lnT>
                    <a:lnB w="5080" cmpd="sng">
                      <a:solidFill>
                        <a:srgbClr val="DCE6EC"/>
                      </a:solidFill>
                    </a:lnB>
                    <a:solidFill>
                      <a:srgbClr val="EA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30" b="1">
                          <a:solidFill>
                            <a:srgbClr val="243E4F"/>
                          </a:solidFill>
                          <a:latin typeface="Arial" panose="020B0604020202020204" pitchFamily="34" charset="0"/>
                        </a:rPr>
                        <a:t>31.8°C</a:t>
                      </a:r>
                    </a:p>
                  </a:txBody>
                  <a:tcPr marL="88900" marR="88900" marT="38100" marB="38100" anchor="ctr">
                    <a:lnL w="5080" cmpd="sng">
                      <a:solidFill>
                        <a:srgbClr val="DCE6EC"/>
                      </a:solidFill>
                    </a:lnL>
                    <a:lnR w="5080" cmpd="sng">
                      <a:solidFill>
                        <a:srgbClr val="DCE6EC"/>
                      </a:solidFill>
                    </a:lnR>
                    <a:lnT w="5080" cmpd="sng">
                      <a:solidFill>
                        <a:srgbClr val="DCE6EC"/>
                      </a:solidFill>
                    </a:lnT>
                    <a:lnB w="5080" cmpd="sng">
                      <a:solidFill>
                        <a:srgbClr val="DCE6EC"/>
                      </a:solidFill>
                    </a:lnB>
                    <a:solidFill>
                      <a:srgbClr val="EA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30" b="1">
                          <a:solidFill>
                            <a:srgbClr val="243E4F"/>
                          </a:solidFill>
                          <a:latin typeface="Arial" panose="020B0604020202020204" pitchFamily="34" charset="0"/>
                        </a:rPr>
                        <a:t>140 g</a:t>
                      </a:r>
                    </a:p>
                  </a:txBody>
                  <a:tcPr marL="88900" marR="88900" marT="38100" marB="38100" anchor="ctr">
                    <a:lnL w="5080" cmpd="sng">
                      <a:solidFill>
                        <a:srgbClr val="DCE6EC"/>
                      </a:solidFill>
                    </a:lnL>
                    <a:lnR w="5080" cmpd="sng">
                      <a:solidFill>
                        <a:srgbClr val="DCE6EC"/>
                      </a:solidFill>
                    </a:lnR>
                    <a:lnT w="5080" cmpd="sng">
                      <a:solidFill>
                        <a:srgbClr val="DCE6EC"/>
                      </a:solidFill>
                    </a:lnT>
                    <a:lnB w="5080" cmpd="sng">
                      <a:solidFill>
                        <a:srgbClr val="DCE6EC"/>
                      </a:solidFill>
                    </a:lnB>
                    <a:solidFill>
                      <a:srgbClr val="EA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30" b="1">
                          <a:solidFill>
                            <a:srgbClr val="243E4F"/>
                          </a:solidFill>
                          <a:latin typeface="Arial" panose="020B0604020202020204" pitchFamily="34" charset="0"/>
                        </a:rPr>
                        <a:t>₹2,412</a:t>
                      </a:r>
                    </a:p>
                  </a:txBody>
                  <a:tcPr marL="88900" marR="88900" marT="38100" marB="38100" anchor="ctr">
                    <a:lnL w="5080" cmpd="sng">
                      <a:solidFill>
                        <a:srgbClr val="DCE6EC"/>
                      </a:solidFill>
                    </a:lnL>
                    <a:lnR w="5080" cmpd="sng">
                      <a:solidFill>
                        <a:srgbClr val="DCE6EC"/>
                      </a:solidFill>
                    </a:lnR>
                    <a:lnT w="5080" cmpd="sng">
                      <a:solidFill>
                        <a:srgbClr val="DCE6EC"/>
                      </a:solidFill>
                    </a:lnT>
                    <a:lnB w="5080" cmpd="sng">
                      <a:solidFill>
                        <a:srgbClr val="DCE6EC"/>
                      </a:solidFill>
                    </a:lnB>
                    <a:solidFill>
                      <a:srgbClr val="EA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6953025"/>
                  </a:ext>
                </a:extLst>
              </a:tr>
            </a:tbl>
          </a:graphicData>
        </a:graphic>
      </p:graphicFrame>
      <p:sp>
        <p:nvSpPr>
          <p:cNvPr id="20" name="Table scope">
            <a:extLst>
              <a:ext uri="{FF2B5EF4-FFF2-40B4-BE49-F238E27FC236}">
                <a16:creationId xmlns:a16="http://schemas.microsoft.com/office/drawing/2014/main" id="{219DC3BA-95A7-B690-2F0E-4CC87E7391E7}"/>
              </a:ext>
            </a:extLst>
          </p:cNvPr>
          <p:cNvSpPr txBox="1"/>
          <p:nvPr/>
        </p:nvSpPr>
        <p:spPr>
          <a:xfrm>
            <a:off x="5270500" y="4394200"/>
            <a:ext cx="65786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80">
                <a:solidFill>
                  <a:srgbClr val="536B7B"/>
                </a:solidFill>
                <a:latin typeface="Arial" panose="020B0604020202020204" pitchFamily="34" charset="0"/>
              </a:rPr>
              <a:t>Frozen V4: same-end outputs; mismatch, thermal and converter sensitivity cases.
Counts vary by cell position. Temperatures simulated; cell-only cost and mass.</a:t>
            </a:r>
          </a:p>
        </p:txBody>
      </p:sp>
      <p:sp>
        <p:nvSpPr>
          <p:cNvPr id="21" name="Evidence heading">
            <a:extLst>
              <a:ext uri="{FF2B5EF4-FFF2-40B4-BE49-F238E27FC236}">
                <a16:creationId xmlns:a16="http://schemas.microsoft.com/office/drawing/2014/main" id="{2D47903C-7CBA-5882-4C78-A28F3DDA89B3}"/>
              </a:ext>
            </a:extLst>
          </p:cNvPr>
          <p:cNvSpPr txBox="1"/>
          <p:nvPr/>
        </p:nvSpPr>
        <p:spPr>
          <a:xfrm>
            <a:off x="355600" y="5168900"/>
            <a:ext cx="36195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70" b="1">
                <a:solidFill>
                  <a:srgbClr val="007BAC"/>
                </a:solidFill>
                <a:latin typeface="Arial" panose="020B0604020202020204" pitchFamily="34" charset="0"/>
              </a:rPr>
              <a:t>EVIDENCE</a:t>
            </a:r>
          </a:p>
        </p:txBody>
      </p:sp>
      <p:sp>
        <p:nvSpPr>
          <p:cNvPr id="22" name="Evidence result">
            <a:extLst>
              <a:ext uri="{FF2B5EF4-FFF2-40B4-BE49-F238E27FC236}">
                <a16:creationId xmlns:a16="http://schemas.microsoft.com/office/drawing/2014/main" id="{4D232446-7C1D-215C-8E59-211065A250C9}"/>
              </a:ext>
            </a:extLst>
          </p:cNvPr>
          <p:cNvSpPr txBox="1"/>
          <p:nvPr/>
        </p:nvSpPr>
        <p:spPr>
          <a:xfrm>
            <a:off x="355600" y="5422900"/>
            <a:ext cx="36449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30" b="1">
                <a:solidFill>
                  <a:srgbClr val="163449"/>
                </a:solidFill>
                <a:latin typeface="Arial" panose="020B0604020202020204" pitchFamily="34" charset="0"/>
              </a:rPr>
              <a:t>15/15 numerical checks passed</a:t>
            </a:r>
          </a:p>
        </p:txBody>
      </p:sp>
      <p:sp>
        <p:nvSpPr>
          <p:cNvPr id="23" name="Evidence limit">
            <a:extLst>
              <a:ext uri="{FF2B5EF4-FFF2-40B4-BE49-F238E27FC236}">
                <a16:creationId xmlns:a16="http://schemas.microsoft.com/office/drawing/2014/main" id="{C64724C4-43BD-B1F1-AD9A-D4E36934F809}"/>
              </a:ext>
            </a:extLst>
          </p:cNvPr>
          <p:cNvSpPr txBox="1"/>
          <p:nvPr/>
        </p:nvSpPr>
        <p:spPr>
          <a:xfrm>
            <a:off x="355600" y="5740399"/>
            <a:ext cx="36449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>
                <a:solidFill>
                  <a:srgbClr val="243E4F"/>
                </a:solidFill>
                <a:latin typeface="Arial" panose="020B0604020202020204" pitchFamily="34" charset="0"/>
              </a:rPr>
              <a:t>All 12 comparison cases missed voltage and
temperature bands. Measured accuracy is
not established.</a:t>
            </a:r>
          </a:p>
        </p:txBody>
      </p:sp>
      <p:sp>
        <p:nvSpPr>
          <p:cNvPr id="24" name="Limits heading">
            <a:extLst>
              <a:ext uri="{FF2B5EF4-FFF2-40B4-BE49-F238E27FC236}">
                <a16:creationId xmlns:a16="http://schemas.microsoft.com/office/drawing/2014/main" id="{9AE3C957-E527-A491-433F-89E017751135}"/>
              </a:ext>
            </a:extLst>
          </p:cNvPr>
          <p:cNvSpPr txBox="1"/>
          <p:nvPr/>
        </p:nvSpPr>
        <p:spPr>
          <a:xfrm>
            <a:off x="4279900" y="5168900"/>
            <a:ext cx="36195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70" b="1">
                <a:solidFill>
                  <a:srgbClr val="007BAC"/>
                </a:solidFill>
                <a:latin typeface="Arial" panose="020B0604020202020204" pitchFamily="34" charset="0"/>
              </a:rPr>
              <a:t>LIMITS THAT MATTER</a:t>
            </a:r>
          </a:p>
        </p:txBody>
      </p:sp>
      <p:sp>
        <p:nvSpPr>
          <p:cNvPr id="25" name="Limits result">
            <a:extLst>
              <a:ext uri="{FF2B5EF4-FFF2-40B4-BE49-F238E27FC236}">
                <a16:creationId xmlns:a16="http://schemas.microsoft.com/office/drawing/2014/main" id="{EC354FF5-7763-F4E5-3D23-27AF0F8A5327}"/>
              </a:ext>
            </a:extLst>
          </p:cNvPr>
          <p:cNvSpPr txBox="1"/>
          <p:nvPr/>
        </p:nvSpPr>
        <p:spPr>
          <a:xfrm>
            <a:off x="4279900" y="5422900"/>
            <a:ext cx="36449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30" b="1">
                <a:solidFill>
                  <a:srgbClr val="163449"/>
                </a:solidFill>
                <a:latin typeface="Arial" panose="020B0604020202020204" pitchFamily="34" charset="0"/>
              </a:rPr>
              <a:t>Conditional, not build-ready</a:t>
            </a:r>
          </a:p>
        </p:txBody>
      </p:sp>
      <p:sp>
        <p:nvSpPr>
          <p:cNvPr id="26" name="Limits body">
            <a:extLst>
              <a:ext uri="{FF2B5EF4-FFF2-40B4-BE49-F238E27FC236}">
                <a16:creationId xmlns:a16="http://schemas.microsoft.com/office/drawing/2014/main" id="{001D4FC8-89AF-D9FE-2A26-895F44E8EAD1}"/>
              </a:ext>
            </a:extLst>
          </p:cNvPr>
          <p:cNvSpPr txBox="1"/>
          <p:nvPr/>
        </p:nvSpPr>
        <p:spPr>
          <a:xfrm>
            <a:off x="4279900" y="5740399"/>
            <a:ext cx="36449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>
                <a:solidFill>
                  <a:srgbClr val="243E4F"/>
                </a:solidFill>
                <a:latin typeface="Arial" panose="020B0604020202020204" pitchFamily="34" charset="0"/>
              </a:rPr>
              <a:t>No spare cell. Board current limits unverified.
Virtual cutoffs modelled; physical protection
has not been demonstrated.</a:t>
            </a:r>
          </a:p>
        </p:txBody>
      </p:sp>
      <p:sp>
        <p:nvSpPr>
          <p:cNvPr id="27" name="Buyer heading">
            <a:extLst>
              <a:ext uri="{FF2B5EF4-FFF2-40B4-BE49-F238E27FC236}">
                <a16:creationId xmlns:a16="http://schemas.microsoft.com/office/drawing/2014/main" id="{079E06F5-2A9C-8771-C20E-EB0DDAB3305C}"/>
              </a:ext>
            </a:extLst>
          </p:cNvPr>
          <p:cNvSpPr txBox="1"/>
          <p:nvPr/>
        </p:nvSpPr>
        <p:spPr>
          <a:xfrm>
            <a:off x="8216900" y="5168900"/>
            <a:ext cx="36195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70" b="1">
                <a:solidFill>
                  <a:srgbClr val="007BAC"/>
                </a:solidFill>
                <a:latin typeface="Arial" panose="020B0604020202020204" pitchFamily="34" charset="0"/>
              </a:rPr>
              <a:t>USER + BUYER HYPOTHESIS</a:t>
            </a:r>
          </a:p>
        </p:txBody>
      </p:sp>
      <p:sp>
        <p:nvSpPr>
          <p:cNvPr id="28" name="Buyer result">
            <a:extLst>
              <a:ext uri="{FF2B5EF4-FFF2-40B4-BE49-F238E27FC236}">
                <a16:creationId xmlns:a16="http://schemas.microsoft.com/office/drawing/2014/main" id="{4AFBB1D8-4352-B817-4BD4-C22204AA87C4}"/>
              </a:ext>
            </a:extLst>
          </p:cNvPr>
          <p:cNvSpPr txBox="1"/>
          <p:nvPr/>
        </p:nvSpPr>
        <p:spPr>
          <a:xfrm>
            <a:off x="8216900" y="5422900"/>
            <a:ext cx="36449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30" b="1">
                <a:solidFill>
                  <a:srgbClr val="163449"/>
                </a:solidFill>
                <a:latin typeface="Arial" panose="020B0604020202020204" pitchFamily="34" charset="0"/>
              </a:rPr>
              <a:t>Start with teaching labs</a:t>
            </a:r>
          </a:p>
        </p:txBody>
      </p:sp>
      <p:sp>
        <p:nvSpPr>
          <p:cNvPr id="29" name="Buyer body">
            <a:extLst>
              <a:ext uri="{FF2B5EF4-FFF2-40B4-BE49-F238E27FC236}">
                <a16:creationId xmlns:a16="http://schemas.microsoft.com/office/drawing/2014/main" id="{01AE65C5-56ED-2325-75F1-6F16AE1BD624}"/>
              </a:ext>
            </a:extLst>
          </p:cNvPr>
          <p:cNvSpPr txBox="1"/>
          <p:nvPr/>
        </p:nvSpPr>
        <p:spPr>
          <a:xfrm>
            <a:off x="8216900" y="5740399"/>
            <a:ext cx="36449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>
                <a:solidFill>
                  <a:srgbClr val="243E4F"/>
                </a:solidFill>
                <a:latin typeface="Arial" panose="020B0604020202020204" pitchFamily="34" charset="0"/>
              </a:rPr>
              <a:t>Free student use; paid lab licences untested.
No observed user trials yet. Next user task:
complete and explain a comparison.</a:t>
            </a:r>
          </a:p>
        </p:txBody>
      </p:sp>
      <p:sp>
        <p:nvSpPr>
          <p:cNvPr id="30" name="Next action">
            <a:extLst>
              <a:ext uri="{FF2B5EF4-FFF2-40B4-BE49-F238E27FC236}">
                <a16:creationId xmlns:a16="http://schemas.microsoft.com/office/drawing/2014/main" id="{D4F150C8-2186-6E25-B0E8-AEE9C5AD38BB}"/>
              </a:ext>
            </a:extLst>
          </p:cNvPr>
          <p:cNvSpPr txBox="1"/>
          <p:nvPr/>
        </p:nvSpPr>
        <p:spPr>
          <a:xfrm>
            <a:off x="355600" y="6413500"/>
            <a:ext cx="114808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60">
                <a:solidFill>
                  <a:srgbClr val="243E4F"/>
                </a:solidFill>
                <a:latin typeface="Arial" panose="020B0604020202020204" pitchFamily="34" charset="0"/>
              </a:rPr>
              <a:t>NEXT  Measure load and converter behavior; bench-check with supervised cutoffs; observe student tasks.</a:t>
            </a:r>
          </a:p>
        </p:txBody>
      </p:sp>
      <p:sp>
        <p:nvSpPr>
          <p:cNvPr id="31" name="Evidence link">
            <a:extLst>
              <a:ext uri="{FF2B5EF4-FFF2-40B4-BE49-F238E27FC236}">
                <a16:creationId xmlns:a16="http://schemas.microsoft.com/office/drawing/2014/main" id="{2BB652B1-5794-B86A-E228-F22817B8DE1C}"/>
              </a:ext>
            </a:extLst>
          </p:cNvPr>
          <p:cNvSpPr txBox="1"/>
          <p:nvPr/>
        </p:nvSpPr>
        <p:spPr>
          <a:xfrm>
            <a:off x="355600" y="6680200"/>
            <a:ext cx="6858000" cy="139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a-DK" sz="880">
                <a:solidFill>
                  <a:srgbClr val="007BAC"/>
                </a:solidFill>
                <a:latin typeface="Arial" panose="020B0604020202020204" pitchFamily="34" charset="0"/>
                <a:hlinkClick r:id="rId6"/>
              </a:rPr>
              <a:t>Source + code: github.com/jaikaushik-prog/VOLT-FORGE</a:t>
            </a:r>
            <a:endParaRPr lang="en-US" sz="880">
              <a:solidFill>
                <a:srgbClr val="007BAC"/>
              </a:solidFill>
              <a:latin typeface="Arial" panose="020B0604020202020204" pitchFamily="34" charset="0"/>
            </a:endParaRPr>
          </a:p>
        </p:txBody>
      </p:sp>
      <p:sp>
        <p:nvSpPr>
          <p:cNvPr id="32" name="Version">
            <a:extLst>
              <a:ext uri="{FF2B5EF4-FFF2-40B4-BE49-F238E27FC236}">
                <a16:creationId xmlns:a16="http://schemas.microsoft.com/office/drawing/2014/main" id="{AC798341-E846-2966-DE07-538DAC320309}"/>
              </a:ext>
            </a:extLst>
          </p:cNvPr>
          <p:cNvSpPr txBox="1"/>
          <p:nvPr/>
        </p:nvSpPr>
        <p:spPr>
          <a:xfrm>
            <a:off x="7772400" y="6680200"/>
            <a:ext cx="4064000" cy="139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880">
                <a:solidFill>
                  <a:srgbClr val="536B7B"/>
                </a:solidFill>
                <a:latin typeface="Arial" panose="020B0604020202020204" pitchFamily="34" charset="0"/>
              </a:rPr>
              <a:t>Team StratWise | Frozen V4 study | Submission draft</a:t>
            </a:r>
          </a:p>
        </p:txBody>
      </p:sp>
    </p:spTree>
    <p:extLst>
      <p:ext uri="{BB962C8B-B14F-4D97-AF65-F5344CB8AC3E}">
        <p14:creationId xmlns:p14="http://schemas.microsoft.com/office/powerpoint/2010/main" val="4031162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943</Words>
  <Application>Microsoft Office PowerPoint</Application>
  <PresentationFormat>Custom</PresentationFormat>
  <Paragraphs>50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VOLT-FORGE | Round 1 submission draft</dc:title>
  <dc:creator>Team StratWise</dc:creator>
  <cp:lastModifiedBy>Aradhya Kaushik</cp:lastModifiedBy>
  <cp:revision>1</cp:revision>
  <dcterms:created xsi:type="dcterms:W3CDTF">2026-10-31T10:33:54Z</dcterms:created>
  <dcterms:modified xsi:type="dcterms:W3CDTF">2026-10-31T10:33:55Z</dcterms:modified>
</cp:coreProperties>
</file>