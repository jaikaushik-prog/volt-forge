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sldIdLst>
    <p:sldId id="260" r:id="rId3"/>
    <p:sldId id="261"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Simulation only. Nothing has been built or measured.</a:t>
            </a:r>
          </a:p>
          <a:p/>
          <a:p>
            <a:r>
              <a:t>Result: Smallest qualifying design among the parallel arrangements tested. Recommended: 2 LG M50T cells with the output at the far cell. 33 of 33 required Pi cases passed, worst-case cell current 5.33 A against a 7.275 A limit.</a:t>
            </a:r>
          </a:p>
          <a:p>
            <a:r>
              <a:t>Limits: 2 of 62 mixed samples were refused at the 12 A stress test; all 62 passed at the Pi load. No link option won every case.</a:t>
            </a:r>
          </a:p>
          <a:p>
            <a:r>
              <a:t>Mission: 25 W from the Raspberry Pi 5 supply recommendation, an assumed 90% converter and an assumed 3.3 V floor give 8.42 A, held constant as an approximation. Run time and room temperature are assumptions.</a:t>
            </a:r>
          </a:p>
          <a:p>
            <a:r>
              <a:t>Real data: all 12 pre-declared full-discharge checks missed their bands, on voltage and on temperature. These are 8 measured discharges and 4 sensitivity reruns. Sources: Chen et al. 2020 (LG M50, zenodo.4032561) and Piombo et al. 2024 test 28 (M50T, 10.17632/zh58byr53c.2).</a:t>
            </a:r>
          </a:p>
          <a:p>
            <a:r>
              <a:t>Board: Geekworm X1205 2-cell UPS HAT, US$46, 5.1 V at up to 6 A, up to 95% efficiency and a 2.4 V cutoff, from its listing and wiki. Its battery overcurrent threshold is not published.</a:t>
            </a:r>
          </a:p>
          <a:p>
            <a:r>
              <a:t>Current shares: Piombo test 28, first 10% of the discharge, measured against simulated, with Hall channels normalised to their own sum. Average error 1.13 points against 2.38 for an equal-share guess, inside the frozen 2.5 point band. The busiest cell was named in 62% of samples against a required 80%, so that part missed. The equal-share comparison was added after the run. This is one test with 3 mOhm links, early in the discharge; later on the error is larger, and the near-zero-link test shared evenly. Over the first 10 minutes, real heating was 0.27 to 1.13 times the model across 8 discharges, also added after the run.</a:t>
            </a:r>
          </a:p>
          <a:p>
            <a:r>
              <a:t>Heat: real rises reached 2.27 times the simulated rise. Applied to the 2-cell worst case that gives 42.4 C against the LG 55 C limit. Voltage: the largest error in the Pi's charge range was 0.17 V against a 0.20 V margin.</a:t>
            </a:r>
          </a:p>
          <a:p>
            <a:r>
              <a:t>Not proven: a real Pi draw on this board, the board's overcurrent limit, or measured accuracy. Below 10 C the LG limit falls to 2.425 A a cell, so two cells could not carry this load.</a:t>
            </a:r>
          </a:p>
          <a:p>
            <a:r>
              <a:t>Cost: cells only, Robu LG M50T Rs 1,206 including GST, listed out of stock, checked 30 Oct 2026. Excludes shipping and fabrication.</a:t>
            </a:r>
          </a:p>
          <a:p>
            <a:r>
              <a:t>Market: AISHE 2021-22. The price of Rs 50,000 a lab and 5% reach are assumptions, and counts do not show willingness to pay.</a:t>
            </a:r>
          </a:p>
          <a:p>
            <a:r>
              <a:t>Business: free for students, labs and teams pay, as a hypothesis. Stage one is dataset, results, quality and the lab, Rs 11.0 crore. That is Rs 2.2 crore a year for 5 years, before running costs. 130 labs at Rs 50,000 give Rs 65 lakh, and 31 teams at an assumed Rs 5 lakh give the rest. No customer has seen these prices, and the number of paying teams has not been sized. One seat of MATLAB, Simulink, Simscape and Simscape Battery lists at US$13,180 perpetual, September 2026.</a:t>
            </a:r>
          </a:p>
          <a:p>
            <a:r>
              <a:t>Build cost: about Rs 35 crore over 3 years and 100.5 person-years for the full product vision. An estimate from sourced salary rates and assumed staffing, cross-checked with COCOMO II. See reports/build_cost_v1/BUILD_COST.md. AspenTech fiscal 2024 R&amp;D was US$206.1 million.</a:t>
            </a:r>
          </a:p>
          <a:p>
            <a:r>
              <a:t>Safety and limits: no spare cell, so three cells is the smallest design that survives losing one. 25 W is the supply rating, and below about 21.6 W one cell stays under its limit. Bench safety steps are in the appendix. No user has tried the app yet.</a:t>
            </a:r>
          </a:p>
          <a:p>
            <a:r>
              <a:t>KPIs: 54 module experiments in the Piombo et al. dataset, and 194 dataset files checksum-verified, including cell characterisation and calibration files. 9 records are reserved for a final assessment and were never opened: 3 module tests and 6 Samsung cell records.</a:t>
            </a:r>
          </a:p>
          <a:p>
            <a:r>
              <a:t>Screens: real designs in the app. The table compares the 4-cell starting design with the 2-cell design under the same 8.42 A load.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39879300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438228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6915101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2720814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9B03228-4751-4F53-A7F7-9080AFB031FA}"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11918803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9B03228-4751-4F53-A7F7-9080AFB031FA}"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1587431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B03228-4751-4F53-A7F7-9080AFB031FA}"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6497443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2360817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907928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3967866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42173546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0604582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7986340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26998080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1232583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7E30D68-FF19-4C40-B203-FF6228C5C208}"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2651971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7E30D68-FF19-4C40-B203-FF6228C5C208}"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4738276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E30D68-FF19-4C40-B203-FF6228C5C208}"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8381876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5172313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6412603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27537620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5567454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B03228-4751-4F53-A7F7-9080AFB031FA}" type="datetimeFigureOut">
              <a:rPr lang="en-US" smtClean="0"/>
              <a:t>9/23/2026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D9C2CE-49C7-403A-A106-CE2A83A98FAB}" type="slidenum">
              <a:rPr lang="en-US" smtClean="0"/>
              <a:t>‹#›</a:t>
            </a:fld>
            <a:endParaRPr lang="en-US"/>
          </a:p>
        </p:txBody>
      </p:sp>
    </p:spTree>
    <p:extLst>
      <p:ext uri="{BB962C8B-B14F-4D97-AF65-F5344CB8AC3E}">
        <p14:creationId xmlns:p14="http://schemas.microsoft.com/office/powerpoint/2010/main" val="27445725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7E30D68-FF19-4C40-B203-FF6228C5C208}" type="datetimeFigureOut">
              <a:rPr lang="en-US" smtClean="0"/>
              <a:t>9/23/2026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0B0BD9-A53D-48D3-BB72-10255F89A562}" type="slidenum">
              <a:rPr lang="en-US" smtClean="0"/>
              <a:t>‹#›</a:t>
            </a:fld>
            <a:endParaRPr lang="en-US"/>
          </a:p>
        </p:txBody>
      </p:sp>
    </p:spTree>
    <p:extLst>
      <p:ext uri="{BB962C8B-B14F-4D97-AF65-F5344CB8AC3E}">
        <p14:creationId xmlns:p14="http://schemas.microsoft.com/office/powerpoint/2010/main" val="18270066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9E0110-3D53-56A3-B428-F22C9DFF80BA}"/>
            </a:ext>
          </a:extLst>
        </p:cNvPr>
        <p:cNvGrpSpPr/>
        <p:nvPr/>
      </p:nvGrpSpPr>
      <p:grpSpPr>
        <a:xfrm>
          <a:off x="0" y="0"/>
          <a:ext cx="0" cy="0"/>
          <a:chOff x="0" y="0"/>
          <a:chExt cx="0" cy="0"/>
        </a:xfrm>
      </p:grpSpPr>
      <p:sp>
        <p:nvSpPr>
          <p:cNvPr id="18" name="Rectangle 1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3" name="Picture 12">
            <a:extLst>
              <a:ext uri="{FF2B5EF4-FFF2-40B4-BE49-F238E27FC236}">
                <a16:creationId xmlns:a16="http://schemas.microsoft.com/office/drawing/2014/main" id="{6C273218-B2DB-AB44-5DFE-A9CB98F2A8B5}"/>
              </a:ext>
            </a:extLst>
          </p:cNvPr>
          <p:cNvPicPr>
            <a:picLocks noChangeAspect="1"/>
          </p:cNvPicPr>
          <p:nvPr/>
        </p:nvPicPr>
        <p:blipFill>
          <a:blip r:embed="rId2">
            <a:extLst>
              <a:ext uri="{28A0092B-C50C-407E-A947-70E740481C1C}">
                <a14:useLocalDpi xmlns:a14="http://schemas.microsoft.com/office/drawing/2010/main" val="0"/>
              </a:ext>
            </a:extLst>
          </a:blip>
          <a:srcRect t="19"/>
          <a:stretch>
            <a:fillRect/>
          </a:stretch>
        </p:blipFill>
        <p:spPr>
          <a:xfrm>
            <a:off x="20" y="0"/>
            <a:ext cx="12191980" cy="6856718"/>
          </a:xfrm>
          <a:prstGeom prst="rect">
            <a:avLst/>
          </a:prstGeom>
        </p:spPr>
      </p:pic>
      <p:pic>
        <p:nvPicPr>
          <p:cNvPr id="14" name="Content Placeholder 6">
            <a:extLst>
              <a:ext uri="{FF2B5EF4-FFF2-40B4-BE49-F238E27FC236}">
                <a16:creationId xmlns:a16="http://schemas.microsoft.com/office/drawing/2014/main" id="{DAC1E459-A0ED-D730-5E34-2662D85A7465}"/>
              </a:ext>
            </a:extLst>
          </p:cNvPr>
          <p:cNvPicPr>
            <a:picLocks noChangeAspect="1"/>
          </p:cNvPicPr>
          <p:nvPr/>
        </p:nvPicPr>
        <p:blipFill>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t="33346" b="34336"/>
          <a:stretch>
            <a:fillRect/>
          </a:stretch>
        </p:blipFill>
        <p:spPr>
          <a:xfrm>
            <a:off x="4504438" y="723899"/>
            <a:ext cx="3183124" cy="1028701"/>
          </a:xfrm>
          <a:prstGeom prst="rect">
            <a:avLst/>
          </a:prstGeom>
        </p:spPr>
      </p:pic>
      <p:sp>
        <p:nvSpPr>
          <p:cNvPr id="16" name="Title 1">
            <a:extLst>
              <a:ext uri="{FF2B5EF4-FFF2-40B4-BE49-F238E27FC236}">
                <a16:creationId xmlns:a16="http://schemas.microsoft.com/office/drawing/2014/main" id="{51E1DA9C-07E8-A7EE-F0F0-74A842D8366D}"/>
              </a:ext>
            </a:extLst>
          </p:cNvPr>
          <p:cNvSpPr txBox="1">
            <a:spLocks/>
          </p:cNvSpPr>
          <p:nvPr/>
        </p:nvSpPr>
        <p:spPr>
          <a:xfrm>
            <a:off x="4623106" y="1917655"/>
            <a:ext cx="2945788" cy="60602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800" b="1" dirty="0">
                <a:effectLst>
                  <a:outerShdw blurRad="38100" dist="38100" dir="2700000" algn="tl">
                    <a:srgbClr val="000000">
                      <a:alpha val="43137"/>
                    </a:srgbClr>
                  </a:outerShdw>
                </a:effectLst>
              </a:rPr>
              <a:t>Case Study 2</a:t>
            </a:r>
          </a:p>
        </p:txBody>
      </p:sp>
      <p:sp>
        <p:nvSpPr>
          <p:cNvPr id="17" name="Title 1">
            <a:extLst>
              <a:ext uri="{FF2B5EF4-FFF2-40B4-BE49-F238E27FC236}">
                <a16:creationId xmlns:a16="http://schemas.microsoft.com/office/drawing/2014/main" id="{547F9FFC-5CA4-1C83-5E38-8DBBC6652E84}"/>
              </a:ext>
            </a:extLst>
          </p:cNvPr>
          <p:cNvSpPr>
            <a:spLocks noGrp="1"/>
          </p:cNvSpPr>
          <p:nvPr>
            <p:ph type="ctrTitle"/>
          </p:nvPr>
        </p:nvSpPr>
        <p:spPr>
          <a:xfrm>
            <a:off x="2980112" y="2912065"/>
            <a:ext cx="6231775" cy="760059"/>
          </a:xfrm>
        </p:spPr>
        <p:txBody>
          <a:bodyPr>
            <a:noAutofit/>
          </a:bodyPr>
          <a:lstStyle/>
          <a:p>
            <a:r>
              <a:rPr lang="en-US" sz="4400" b="1" dirty="0">
                <a:effectLst>
                  <a:outerShdw blurRad="38100" dist="38100" dir="2700000" algn="tl">
                    <a:srgbClr val="000000">
                      <a:alpha val="43137"/>
                    </a:srgbClr>
                  </a:outerShdw>
                </a:effectLst>
              </a:rPr>
              <a:t>Team Details</a:t>
            </a:r>
          </a:p>
        </p:txBody>
      </p:sp>
      <p:sp>
        <p:nvSpPr>
          <p:cNvPr id="19" name="Subtitle 2">
            <a:extLst>
              <a:ext uri="{FF2B5EF4-FFF2-40B4-BE49-F238E27FC236}">
                <a16:creationId xmlns:a16="http://schemas.microsoft.com/office/drawing/2014/main" id="{BC4B1A3C-0B9F-3BDB-8C06-470AADE518D0}"/>
              </a:ext>
            </a:extLst>
          </p:cNvPr>
          <p:cNvSpPr>
            <a:spLocks noGrp="1"/>
          </p:cNvSpPr>
          <p:nvPr>
            <p:ph type="subTitle" idx="1"/>
          </p:nvPr>
        </p:nvSpPr>
        <p:spPr>
          <a:xfrm>
            <a:off x="2981627" y="3652835"/>
            <a:ext cx="6231775" cy="1128427"/>
          </a:xfrm>
        </p:spPr>
        <p:txBody>
          <a:bodyPr/>
          <a:lstStyle/>
          <a:p>
            <a:endParaRPr lang="en-US" dirty="0"/>
          </a:p>
        </p:txBody>
      </p:sp>
    </p:spTree>
    <p:extLst>
      <p:ext uri="{BB962C8B-B14F-4D97-AF65-F5344CB8AC3E}">
        <p14:creationId xmlns:p14="http://schemas.microsoft.com/office/powerpoint/2010/main" val="40021824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EA7B0-D290-F374-CB83-A8971125BE42}"/>
              </a:ext>
            </a:extLst>
          </p:cNvPr>
          <p:cNvSpPr>
            <a:spLocks noGrp="1"/>
          </p:cNvSpPr>
          <p:nvPr>
            <p:ph type="title"/>
          </p:nvPr>
        </p:nvSpPr>
        <p:spPr>
          <a:xfrm>
            <a:off x="1017714" y="898058"/>
            <a:ext cx="10515600" cy="1325563"/>
          </a:xfrm>
        </p:spPr>
        <p:txBody>
          <a:bodyPr/>
          <a:lstStyle/>
          <a:p>
            <a:r>
              <a:t>Test a battery before you build it</a:t>
            </a:r>
          </a:p>
        </p:txBody>
      </p:sp>
      <p:pic>
        <p:nvPicPr>
          <p:cNvPr id="5" name="Picture 2" descr="od-banner">
            <a:extLst>
              <a:ext uri="{FF2B5EF4-FFF2-40B4-BE49-F238E27FC236}">
                <a16:creationId xmlns:a16="http://schemas.microsoft.com/office/drawing/2014/main" id="{F4826D9E-742D-0A39-8864-4C7889B0DCC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81341" y="89039"/>
            <a:ext cx="803547" cy="567309"/>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6">
            <a:extLst>
              <a:ext uri="{FF2B5EF4-FFF2-40B4-BE49-F238E27FC236}">
                <a16:creationId xmlns:a16="http://schemas.microsoft.com/office/drawing/2014/main" id="{727886EE-DB1A-217A-4691-1FAE55869FBE}"/>
              </a:ext>
            </a:extLst>
          </p:cNvPr>
          <p:cNvPicPr>
            <a:picLocks noChangeAspect="1"/>
          </p:cNvPicPr>
          <p:nvPr/>
        </p:nvPicPr>
        <p:blipFill>
          <a:blip r:embed="rId3" cstate="print">
            <a:extLst>
              <a:ext uri="{28A0092B-C50C-407E-A947-70E740481C1C}">
                <a14:useLocalDpi xmlns:a14="http://schemas.microsoft.com/office/drawing/2010/main" val="0"/>
              </a:ext>
            </a:extLst>
          </a:blip>
          <a:srcRect t="33346" b="34336"/>
          <a:stretch>
            <a:fillRect/>
          </a:stretch>
        </p:blipFill>
        <p:spPr>
          <a:xfrm>
            <a:off x="0" y="14083"/>
            <a:ext cx="2361332" cy="763120"/>
          </a:xfrm>
          <a:prstGeom prst="rect">
            <a:avLst/>
          </a:prstGeom>
        </p:spPr>
      </p:pic>
      <p:pic>
        <p:nvPicPr>
          <p:cNvPr id="8" name="VOLT-FORGE Round 1 slide" descr="VOLT-FORGE: the seven rubric criteria around the working app, showing the 4-cell Pi circuit with a cell properties panel, and a comparison of the 4-cell and 2-cell designs."/>
          <p:cNvPicPr>
            <a:picLocks noChangeAspect="1"/>
          </p:cNvPicPr>
          <p:nvPr/>
        </p:nvPicPr>
        <p:blipFill>
          <a:blip r:embed="rId4"/>
          <a:stretch>
            <a:fillRect/>
          </a:stretch>
        </p:blipFill>
        <p:spPr>
          <a:xfrm>
            <a:off x="0" y="0"/>
            <a:ext cx="12192000" cy="6858000"/>
          </a:xfrm>
          <a:prstGeom prst="rect">
            <a:avLst/>
          </a:prstGeom>
        </p:spPr>
      </p:pic>
    </p:spTree>
    <p:extLst>
      <p:ext uri="{BB962C8B-B14F-4D97-AF65-F5344CB8AC3E}">
        <p14:creationId xmlns:p14="http://schemas.microsoft.com/office/powerpoint/2010/main" val="707644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327</TotalTime>
  <Words>6</Words>
  <Application>Microsoft Office PowerPoint</Application>
  <PresentationFormat>Widescreen</PresentationFormat>
  <Paragraphs>2</Paragraphs>
  <Slides>2</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vt:i4>
      </vt:variant>
    </vt:vector>
  </HeadingPairs>
  <TitlesOfParts>
    <vt:vector size="7" baseType="lpstr">
      <vt:lpstr>Arial</vt:lpstr>
      <vt:lpstr>Calibri</vt:lpstr>
      <vt:lpstr>Calibri Light</vt:lpstr>
      <vt:lpstr>Office Theme</vt:lpstr>
      <vt:lpstr>Custom Design</vt:lpstr>
      <vt:lpstr>Team Details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Aaquib Jawaid</dc:creator>
  <cp:lastModifiedBy>Fatima Ameer</cp:lastModifiedBy>
  <cp:revision>7</cp:revision>
  <dcterms:created xsi:type="dcterms:W3CDTF">2024-10-25T17:59:13Z</dcterms:created>
  <dcterms:modified xsi:type="dcterms:W3CDTF">2026-09-23T11:32:25Z</dcterms:modified>
</cp:coreProperties>
</file>