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Simulated, low cooling</c:v>
                </c:pt>
              </c:strCache>
            </c:strRef>
          </c:tx>
          <c:spPr>
            <a:solidFill>
              <a:srgbClr val="A9D8F0"/>
            </a:solidFill>
          </c:spPr>
          <c:cat>
            <c:strRef>
              <c:f>Sheet1!$A$2:$A$3</c:f>
              <c:strCache>
                <c:ptCount val="2"/>
                <c:pt idx="0">
                  <c:v>Four-cell rig, 14.6 A</c:v>
                </c:pt>
                <c:pt idx="1">
                  <c:v>Single cell, 5 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13.5</c:v>
                </c:pt>
                <c:pt idx="1">
                  <c:v>15.9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Simulated, default</c:v>
                </c:pt>
              </c:strCache>
            </c:strRef>
          </c:tx>
          <c:spPr>
            <a:solidFill>
              <a:srgbClr val="00A0E0"/>
            </a:solidFill>
          </c:spPr>
          <c:cat>
            <c:strRef>
              <c:f>Sheet1!$A$2:$A$3</c:f>
              <c:strCache>
                <c:ptCount val="2"/>
                <c:pt idx="0">
                  <c:v>Four-cell rig, 14.6 A</c:v>
                </c:pt>
                <c:pt idx="1">
                  <c:v>Single cell, 5 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8.4</c:v>
                </c:pt>
                <c:pt idx="1">
                  <c:v>9.6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Measured</c:v>
                </c:pt>
              </c:strCache>
            </c:strRef>
          </c:tx>
          <c:spPr>
            <a:solidFill>
              <a:srgbClr val="231F20"/>
            </a:solidFill>
          </c:spPr>
          <c:cat>
            <c:strRef>
              <c:f>Sheet1!$A$2:$A$3</c:f>
              <c:strCache>
                <c:ptCount val="2"/>
                <c:pt idx="0">
                  <c:v>Four-cell rig, 14.6 A</c:v>
                </c:pt>
                <c:pt idx="1">
                  <c:v>Single cell, 5 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5.3</c:v>
                </c:pt>
                <c:pt idx="1">
                  <c:v>16.2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7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8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5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2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0" y="63500"/>
            <a:ext cx="8788400" cy="355600"/>
          </a:xfrm>
        </p:spPr>
        <p:txBody>
          <a:bodyPr wrap="square" lIns="0" rIns="0" tIns="0" bIns="0" anchor="ctr"/>
          <a:lstStyle/>
          <a:p>
            <a:pPr algn="l"/>
            <a:r>
              <a:rPr sz="2300" b="1">
                <a:solidFill>
                  <a:srgbClr val="231F20"/>
                </a:solidFill>
                <a:latin typeface="Calibri"/>
              </a:rPr>
              <a:t>A Raspberry Pi 5 backup passes on </a:t>
            </a:r>
            <a:r>
              <a:rPr sz="2300" b="1">
                <a:solidFill>
                  <a:srgbClr val="00A0E0"/>
                </a:solidFill>
                <a:latin typeface="Calibri"/>
              </a:rPr>
              <a:t>2 cells, not 4</a:t>
            </a:r>
            <a:endParaRPr lang="en-IN"/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Qualifier"/>
          <p:cNvSpPr txBox="1"/>
          <p:nvPr/>
        </p:nvSpPr>
        <p:spPr>
          <a:xfrm>
            <a:off x="2413000" y="431800"/>
            <a:ext cx="87884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6616E"/>
                </a:solidFill>
                <a:latin typeface="Calibri"/>
              </a:rPr>
              <a:t>VOLT-FORGE lets students and engineers test a battery design before buying parts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13000" y="622300"/>
            <a:ext cx="4613854" cy="0"/>
          </a:xfrm>
          <a:prstGeom prst="line">
            <a:avLst/>
          </a:prstGeom>
          <a:ln w="15875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hain"/>
          <p:cNvCxnSpPr/>
          <p:nvPr/>
        </p:nvCxnSpPr>
        <p:spPr>
          <a:xfrm>
            <a:off x="1320800" y="990600"/>
            <a:ext cx="9550400" cy="0"/>
          </a:xfrm>
          <a:prstGeom prst="line">
            <a:avLst/>
          </a:prstGeom>
          <a:ln w="19050">
            <a:solidFill>
              <a:srgbClr val="38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0800" y="1270000"/>
            <a:ext cx="0" cy="88900"/>
          </a:xfrm>
          <a:prstGeom prst="line">
            <a:avLst/>
          </a:prstGeom>
          <a:ln w="19050">
            <a:solidFill>
              <a:srgbClr val="38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ode: Define"/>
          <p:cNvSpPr/>
          <p:nvPr/>
        </p:nvSpPr>
        <p:spPr>
          <a:xfrm>
            <a:off x="1041400" y="711200"/>
            <a:ext cx="558800" cy="558800"/>
          </a:xfrm>
          <a:prstGeom prst="ellipse">
            <a:avLst/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711200"/>
            <a:ext cx="76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Define</a:t>
            </a:r>
          </a:p>
        </p:txBody>
      </p:sp>
      <p:sp>
        <p:nvSpPr>
          <p:cNvPr id="14" name="Card: Define"/>
          <p:cNvSpPr/>
          <p:nvPr/>
        </p:nvSpPr>
        <p:spPr>
          <a:xfrm>
            <a:off x="177800" y="1358900"/>
            <a:ext cx="2286000" cy="635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1B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700" y="1358900"/>
            <a:ext cx="21082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31F20"/>
                </a:solidFill>
                <a:latin typeface="Calibri"/>
              </a:rPr>
              <a:t>Keep a Pi 5 gateway alive through a power cut: </a:t>
            </a:r>
            <a:r>
              <a:rPr sz="1000" b="1">
                <a:solidFill>
                  <a:srgbClr val="231F20"/>
                </a:solidFill>
                <a:latin typeface="Calibri"/>
              </a:rPr>
              <a:t>10 minutes</a:t>
            </a:r>
            <a:r>
              <a:rPr sz="1000" b="0">
                <a:solidFill>
                  <a:srgbClr val="231F20"/>
                </a:solidFill>
                <a:latin typeface="Calibri"/>
              </a:rPr>
              <a:t> at </a:t>
            </a:r>
            <a:r>
              <a:rPr sz="1000" b="1">
                <a:solidFill>
                  <a:srgbClr val="231F20"/>
                </a:solidFill>
                <a:latin typeface="Calibri"/>
              </a:rPr>
              <a:t>25 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8400" y="1270000"/>
            <a:ext cx="0" cy="88900"/>
          </a:xfrm>
          <a:prstGeom prst="line">
            <a:avLst/>
          </a:prstGeom>
          <a:ln w="19050">
            <a:solidFill>
              <a:srgbClr val="38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Node: Build"/>
          <p:cNvSpPr/>
          <p:nvPr/>
        </p:nvSpPr>
        <p:spPr>
          <a:xfrm>
            <a:off x="3429000" y="711200"/>
            <a:ext cx="558800" cy="558800"/>
          </a:xfrm>
          <a:prstGeom prst="ellipse">
            <a:avLst/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7400" y="711200"/>
            <a:ext cx="76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9" name="Card: Build"/>
          <p:cNvSpPr/>
          <p:nvPr/>
        </p:nvSpPr>
        <p:spPr>
          <a:xfrm>
            <a:off x="2565400" y="1358900"/>
            <a:ext cx="2286000" cy="635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1B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4300" y="1358900"/>
            <a:ext cx="21082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Calibri"/>
              </a:rPr>
              <a:t>Wire real cells</a:t>
            </a:r>
            <a:r>
              <a:rPr sz="1000" b="0">
                <a:solidFill>
                  <a:srgbClr val="231F20"/>
                </a:solidFill>
                <a:latin typeface="Calibri"/>
              </a:rPr>
              <a:t> on a canvas, with the load shown on the design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1270000"/>
            <a:ext cx="0" cy="88900"/>
          </a:xfrm>
          <a:prstGeom prst="line">
            <a:avLst/>
          </a:prstGeom>
          <a:ln w="19050">
            <a:solidFill>
              <a:srgbClr val="38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ode: Test"/>
          <p:cNvSpPr/>
          <p:nvPr/>
        </p:nvSpPr>
        <p:spPr>
          <a:xfrm>
            <a:off x="5816600" y="711200"/>
            <a:ext cx="558800" cy="558800"/>
          </a:xfrm>
          <a:prstGeom prst="ellipse">
            <a:avLst/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711200"/>
            <a:ext cx="76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4" name="Card: Test"/>
          <p:cNvSpPr/>
          <p:nvPr/>
        </p:nvSpPr>
        <p:spPr>
          <a:xfrm>
            <a:off x="4953000" y="1358900"/>
            <a:ext cx="2286000" cy="635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1B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1900" y="1358900"/>
            <a:ext cx="21082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31F20"/>
                </a:solidFill>
                <a:latin typeface="Calibri"/>
              </a:rPr>
              <a:t>Circuit and heat solved </a:t>
            </a:r>
            <a:r>
              <a:rPr sz="1000" b="1">
                <a:solidFill>
                  <a:srgbClr val="231F20"/>
                </a:solidFill>
                <a:latin typeface="Calibri"/>
              </a:rPr>
              <a:t>in seconds</a:t>
            </a:r>
            <a:r>
              <a:rPr sz="1000" b="0">
                <a:solidFill>
                  <a:srgbClr val="231F20"/>
                </a:solidFill>
                <a:latin typeface="Calibri"/>
              </a:rPr>
              <a:t>, with cell limits enforced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3600" y="1270000"/>
            <a:ext cx="0" cy="88900"/>
          </a:xfrm>
          <a:prstGeom prst="line">
            <a:avLst/>
          </a:prstGeom>
          <a:ln w="19050">
            <a:solidFill>
              <a:srgbClr val="38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Node: Improve"/>
          <p:cNvSpPr/>
          <p:nvPr/>
        </p:nvSpPr>
        <p:spPr>
          <a:xfrm>
            <a:off x="8204200" y="711200"/>
            <a:ext cx="558800" cy="558800"/>
          </a:xfrm>
          <a:prstGeom prst="ellipse">
            <a:avLst/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2600" y="711200"/>
            <a:ext cx="76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29" name="Card: Improve"/>
          <p:cNvSpPr/>
          <p:nvPr/>
        </p:nvSpPr>
        <p:spPr>
          <a:xfrm>
            <a:off x="7340600" y="1358900"/>
            <a:ext cx="2286000" cy="635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1B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9500" y="1358900"/>
            <a:ext cx="21082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31F20"/>
                </a:solidFill>
                <a:latin typeface="Calibri"/>
              </a:rPr>
              <a:t>Find the smallest design</a:t>
            </a:r>
            <a:r>
              <a:rPr sz="1000" b="0">
                <a:solidFill>
                  <a:srgbClr val="231F20"/>
                </a:solidFill>
                <a:latin typeface="Calibri"/>
              </a:rPr>
              <a:t> rebuilds and tests 1 to 4 cells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871200" y="1270000"/>
            <a:ext cx="0" cy="88900"/>
          </a:xfrm>
          <a:prstGeom prst="line">
            <a:avLst/>
          </a:prstGeom>
          <a:ln w="19050">
            <a:solidFill>
              <a:srgbClr val="38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ode: Decide"/>
          <p:cNvSpPr/>
          <p:nvPr/>
        </p:nvSpPr>
        <p:spPr>
          <a:xfrm>
            <a:off x="10591800" y="711200"/>
            <a:ext cx="558800" cy="558800"/>
          </a:xfrm>
          <a:prstGeom prst="ellipse">
            <a:avLst/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0200" y="711200"/>
            <a:ext cx="76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34" name="Card: Decide"/>
          <p:cNvSpPr/>
          <p:nvPr/>
        </p:nvSpPr>
        <p:spPr>
          <a:xfrm>
            <a:off x="9728200" y="1358900"/>
            <a:ext cx="2286000" cy="635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1B5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7100" y="1358900"/>
            <a:ext cx="21082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31F20"/>
                </a:solidFill>
                <a:latin typeface="Calibri"/>
              </a:rPr>
              <a:t>Compare </a:t>
            </a:r>
            <a:r>
              <a:rPr sz="1000" b="1">
                <a:solidFill>
                  <a:srgbClr val="231F20"/>
                </a:solidFill>
                <a:latin typeface="Calibri"/>
              </a:rPr>
              <a:t>cost, mass and margin</a:t>
            </a:r>
            <a:r>
              <a:rPr sz="1000" b="0">
                <a:solidFill>
                  <a:srgbClr val="231F20"/>
                </a:solidFill>
                <a:latin typeface="Calibri"/>
              </a:rPr>
              <a:t>, then stress the winner</a:t>
            </a:r>
          </a:p>
        </p:txBody>
      </p:sp>
      <p:sp>
        <p:nvSpPr>
          <p:cNvPr id="36" name="Section: The starting design: Geekworm X1206 V2.0, four 21700 slots"/>
          <p:cNvSpPr txBox="1"/>
          <p:nvPr/>
        </p:nvSpPr>
        <p:spPr>
          <a:xfrm>
            <a:off x="177800" y="2108200"/>
            <a:ext cx="4318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31F20"/>
                </a:solidFill>
                <a:latin typeface="Calibri"/>
              </a:rPr>
              <a:t>The starting design: Geekworm X1206 V2.0, four 21700 slots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7800" y="2286000"/>
            <a:ext cx="3486017" cy="0"/>
          </a:xfrm>
          <a:prstGeom prst="line">
            <a:avLst/>
          </a:prstGeom>
          <a:ln w="12700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roduct screenshot" descr="slide_canva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2324100"/>
            <a:ext cx="4318000" cy="1280115"/>
          </a:xfrm>
          <a:prstGeom prst="rect">
            <a:avLst/>
          </a:prstGeom>
        </p:spPr>
      </p:pic>
      <p:sp>
        <p:nvSpPr>
          <p:cNvPr id="39" name="Requirement: 25 W"/>
          <p:cNvSpPr txBox="1"/>
          <p:nvPr/>
        </p:nvSpPr>
        <p:spPr>
          <a:xfrm>
            <a:off x="177800" y="3667715"/>
            <a:ext cx="143933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25 W </a:t>
            </a:r>
            <a:r>
              <a:rPr sz="1000" b="0">
                <a:solidFill>
                  <a:srgbClr val="231F20"/>
                </a:solidFill>
                <a:latin typeface="Calibri"/>
              </a:rPr>
              <a:t>supply · sourced</a:t>
            </a:r>
          </a:p>
        </p:txBody>
      </p:sp>
      <p:sp>
        <p:nvSpPr>
          <p:cNvPr id="40" name="Requirement: 90%"/>
          <p:cNvSpPr txBox="1"/>
          <p:nvPr/>
        </p:nvSpPr>
        <p:spPr>
          <a:xfrm>
            <a:off x="1617133" y="3667715"/>
            <a:ext cx="143933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90% </a:t>
            </a:r>
            <a:r>
              <a:rPr sz="1000" b="0">
                <a:solidFill>
                  <a:srgbClr val="231F20"/>
                </a:solidFill>
                <a:latin typeface="Calibri"/>
              </a:rPr>
              <a:t>converter · assumed</a:t>
            </a:r>
          </a:p>
        </p:txBody>
      </p:sp>
      <p:sp>
        <p:nvSpPr>
          <p:cNvPr id="41" name="Requirement: 8.42 A"/>
          <p:cNvSpPr txBox="1"/>
          <p:nvPr/>
        </p:nvSpPr>
        <p:spPr>
          <a:xfrm>
            <a:off x="3056466" y="3667715"/>
            <a:ext cx="143933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8.42 A </a:t>
            </a:r>
            <a:r>
              <a:rPr sz="1000" b="0">
                <a:solidFill>
                  <a:srgbClr val="231F20"/>
                </a:solidFill>
                <a:latin typeface="Calibri"/>
              </a:rPr>
              <a:t>· calculated</a:t>
            </a:r>
          </a:p>
        </p:txBody>
      </p:sp>
      <p:sp>
        <p:nvSpPr>
          <p:cNvPr id="42" name="Requirement: 10 min"/>
          <p:cNvSpPr txBox="1"/>
          <p:nvPr/>
        </p:nvSpPr>
        <p:spPr>
          <a:xfrm>
            <a:off x="177800" y="3832815"/>
            <a:ext cx="143933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10 min </a:t>
            </a:r>
            <a:r>
              <a:rPr sz="1000" b="0">
                <a:solidFill>
                  <a:srgbClr val="231F20"/>
                </a:solidFill>
                <a:latin typeface="Calibri"/>
              </a:rPr>
              <a:t>· assumed</a:t>
            </a:r>
          </a:p>
        </p:txBody>
      </p:sp>
      <p:sp>
        <p:nvSpPr>
          <p:cNvPr id="43" name="Requirement: 3.3 V"/>
          <p:cNvSpPr txBox="1"/>
          <p:nvPr/>
        </p:nvSpPr>
        <p:spPr>
          <a:xfrm>
            <a:off x="1617133" y="3832815"/>
            <a:ext cx="143933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3.3 V </a:t>
            </a:r>
            <a:r>
              <a:rPr sz="1000" b="0">
                <a:solidFill>
                  <a:srgbClr val="231F20"/>
                </a:solidFill>
                <a:latin typeface="Calibri"/>
              </a:rPr>
              <a:t>floor · assumed</a:t>
            </a:r>
          </a:p>
        </p:txBody>
      </p:sp>
      <p:sp>
        <p:nvSpPr>
          <p:cNvPr id="44" name="Requirement: 23 °C"/>
          <p:cNvSpPr txBox="1"/>
          <p:nvPr/>
        </p:nvSpPr>
        <p:spPr>
          <a:xfrm>
            <a:off x="3056466" y="3832815"/>
            <a:ext cx="143933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23 °C </a:t>
            </a:r>
            <a:r>
              <a:rPr sz="1000" b="0">
                <a:solidFill>
                  <a:srgbClr val="231F20"/>
                </a:solidFill>
                <a:latin typeface="Calibri"/>
              </a:rPr>
              <a:t>room · assumed</a:t>
            </a:r>
          </a:p>
        </p:txBody>
      </p:sp>
      <p:sp>
        <p:nvSpPr>
          <p:cNvPr id="45" name="Section: What the tool found, with same-end outputs"/>
          <p:cNvSpPr txBox="1"/>
          <p:nvPr/>
        </p:nvSpPr>
        <p:spPr>
          <a:xfrm>
            <a:off x="4673600" y="2108200"/>
            <a:ext cx="7340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31F20"/>
                </a:solidFill>
                <a:latin typeface="Calibri"/>
              </a:rPr>
              <a:t>What the tool found, with same-end outputs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673600" y="2286000"/>
            <a:ext cx="2596651" cy="0"/>
          </a:xfrm>
          <a:prstGeom prst="line">
            <a:avLst/>
          </a:prstGeom>
          <a:ln w="12700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at: 2 cells"/>
          <p:cNvSpPr txBox="1"/>
          <p:nvPr/>
        </p:nvSpPr>
        <p:spPr>
          <a:xfrm>
            <a:off x="4673600" y="2324100"/>
            <a:ext cx="1758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5E96"/>
                </a:solidFill>
                <a:latin typeface="Calibri"/>
              </a:rPr>
              <a:t>2 cells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3600" y="2679700"/>
            <a:ext cx="1784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616E"/>
                </a:solidFill>
                <a:latin typeface="Calibri"/>
              </a:rPr>
              <a:t>smallest qualifying, from 4</a:t>
            </a:r>
          </a:p>
        </p:txBody>
      </p:sp>
      <p:sp>
        <p:nvSpPr>
          <p:cNvPr id="49" name="Stat: ₹2,412"/>
          <p:cNvSpPr txBox="1"/>
          <p:nvPr/>
        </p:nvSpPr>
        <p:spPr>
          <a:xfrm>
            <a:off x="6508750" y="2324100"/>
            <a:ext cx="1758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5E96"/>
                </a:solidFill>
                <a:latin typeface="Calibri"/>
              </a:rPr>
              <a:t>₹2,412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08750" y="2679700"/>
            <a:ext cx="1784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616E"/>
                </a:solidFill>
                <a:latin typeface="Calibri"/>
              </a:rPr>
              <a:t>less on cells, ₹4,824 to ₹2,412</a:t>
            </a:r>
          </a:p>
        </p:txBody>
      </p:sp>
      <p:sp>
        <p:nvSpPr>
          <p:cNvPr id="51" name="Stat: 140 g"/>
          <p:cNvSpPr txBox="1"/>
          <p:nvPr/>
        </p:nvSpPr>
        <p:spPr>
          <a:xfrm>
            <a:off x="8343900" y="2324100"/>
            <a:ext cx="1758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5E96"/>
                </a:solidFill>
                <a:latin typeface="Calibri"/>
              </a:rPr>
              <a:t>140 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3900" y="2679700"/>
            <a:ext cx="1784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616E"/>
                </a:solidFill>
                <a:latin typeface="Calibri"/>
              </a:rPr>
              <a:t>less cell mass, 280 to 140 g</a:t>
            </a:r>
          </a:p>
        </p:txBody>
      </p:sp>
      <p:sp>
        <p:nvSpPr>
          <p:cNvPr id="53" name="Stat: 33 of 33"/>
          <p:cNvSpPr txBox="1"/>
          <p:nvPr/>
        </p:nvSpPr>
        <p:spPr>
          <a:xfrm>
            <a:off x="10179050" y="2324100"/>
            <a:ext cx="1758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5E96"/>
                </a:solidFill>
                <a:latin typeface="Calibri"/>
              </a:rPr>
              <a:t>33 of 33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9050" y="2679700"/>
            <a:ext cx="1784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616E"/>
                </a:solidFill>
                <a:latin typeface="Calibri"/>
              </a:rPr>
              <a:t>required Pi cases passed</a:t>
            </a:r>
          </a:p>
        </p:txBody>
      </p:sp>
      <p:graphicFrame>
        <p:nvGraphicFramePr>
          <p:cNvPr id="55" name="Trade-offs"/>
          <p:cNvGraphicFramePr>
            <a:graphicFrameLocks noGrp="1"/>
          </p:cNvGraphicFramePr>
          <p:nvPr/>
        </p:nvGraphicFramePr>
        <p:xfrm>
          <a:off x="4673600" y="2882900"/>
          <a:ext cx="7340598" cy="10477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13841"/>
                <a:gridCol w="880872"/>
                <a:gridCol w="734060"/>
                <a:gridCol w="880872"/>
                <a:gridCol w="734060"/>
                <a:gridCol w="954278"/>
                <a:gridCol w="1027683"/>
                <a:gridCol w="807466"/>
                <a:gridCol w="807466"/>
              </a:tblGrid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Lowest V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Peak cell A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Warmest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Worst-case A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Worst-case °C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 cost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 mass</a:t>
                      </a:r>
                    </a:p>
                  </a:txBody>
                  <a:tcPr marL="31750" marR="31750" marT="15240" marB="15240" anchor="ctr">
                    <a:solidFill>
                      <a:srgbClr val="3880C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9480F"/>
                          </a:solidFill>
                          <a:latin typeface="Calibri"/>
                        </a:rPr>
                        <a:t>Refused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₹1,206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70 g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96"/>
                          </a:solidFill>
                          <a:latin typeface="Calibri"/>
                        </a:rPr>
                        <a:t>Qualifies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3.53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4.37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27.5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5.49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31.8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₹2,412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1F20"/>
                          </a:solidFill>
                          <a:latin typeface="Calibri"/>
                        </a:rPr>
                        <a:t>140 g</a:t>
                      </a:r>
                    </a:p>
                  </a:txBody>
                  <a:tcPr marL="31750" marR="31750" marT="15240" marB="15240" anchor="ctr">
                    <a:solidFill>
                      <a:srgbClr val="EAF4FB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96"/>
                          </a:solidFill>
                          <a:latin typeface="Calibri"/>
                        </a:rPr>
                        <a:t>Qualifies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3.63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3.16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25.4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3.86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27.7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₹3,618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210 g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5E96"/>
                          </a:solidFill>
                          <a:latin typeface="Calibri"/>
                        </a:rPr>
                        <a:t>Qualifies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3.69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2.64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24.6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3.34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26.1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₹4,824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1F20"/>
                          </a:solidFill>
                          <a:latin typeface="Calibri"/>
                        </a:rPr>
                        <a:t>280 g</a:t>
                      </a:r>
                    </a:p>
                  </a:txBody>
                  <a:tcPr marL="31750" marR="31750" marT="15240" marB="15240" anchor="ctr">
                    <a:noFill/>
                  </a:tcPr>
                </a:tc>
              </a:tr>
            </a:tbl>
          </a:graphicData>
        </a:graphic>
      </p:graphicFrame>
      <p:sp>
        <p:nvSpPr>
          <p:cNvPr id="56" name="Section: How far to trust it"/>
          <p:cNvSpPr txBox="1"/>
          <p:nvPr/>
        </p:nvSpPr>
        <p:spPr>
          <a:xfrm>
            <a:off x="177800" y="4083050"/>
            <a:ext cx="3826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31F20"/>
                </a:solidFill>
                <a:latin typeface="Calibri"/>
              </a:rPr>
              <a:t>How far to trust it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77800" y="4260850"/>
            <a:ext cx="1034587" cy="0"/>
          </a:xfrm>
          <a:prstGeom prst="line">
            <a:avLst/>
          </a:prstGeom>
          <a:ln w="12700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Peak temperature rise in K, measured and simulated"/>
          <p:cNvGraphicFramePr>
            <a:graphicFrameLocks noGrp="1"/>
          </p:cNvGraphicFramePr>
          <p:nvPr/>
        </p:nvGraphicFramePr>
        <p:xfrm>
          <a:off x="139700" y="4298950"/>
          <a:ext cx="2372698" cy="1346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9" name="Verification"/>
          <p:cNvSpPr txBox="1"/>
          <p:nvPr/>
        </p:nvSpPr>
        <p:spPr>
          <a:xfrm>
            <a:off x="2575898" y="4324350"/>
            <a:ext cx="1428834" cy="132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31F20"/>
                </a:solidFill>
                <a:latin typeface="Calibri"/>
              </a:rPr>
              <a:t>Peak rise in K. </a:t>
            </a:r>
            <a:r>
              <a:rPr sz="1000" b="0">
                <a:solidFill>
                  <a:srgbClr val="231F20"/>
                </a:solidFill>
                <a:latin typeface="Calibri"/>
              </a:rPr>
              <a:t>All 12 pre-set real-data cases </a:t>
            </a:r>
            <a:r>
              <a:rPr sz="1000" b="1">
                <a:solidFill>
                  <a:srgbClr val="231F20"/>
                </a:solidFill>
                <a:latin typeface="Calibri"/>
              </a:rPr>
              <a:t>missed their bands</a:t>
            </a:r>
            <a:r>
              <a:rPr sz="1000" b="0">
                <a:solidFill>
                  <a:srgbClr val="231F20"/>
                </a:solidFill>
                <a:latin typeface="Calibri"/>
              </a:rPr>
              <a:t>, so temperatures are a range.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31F20"/>
                </a:solidFill>
                <a:latin typeface="Calibri"/>
              </a:rPr>
              <a:t>PyBaMM 15 of 15</a:t>
            </a:r>
            <a:r>
              <a:rPr sz="1000" b="0">
                <a:solidFill>
                  <a:srgbClr val="231F20"/>
                </a:solidFill>
                <a:latin typeface="Calibri"/>
              </a:rPr>
              <a:t> on voltage and heat. Energy balance closes.</a:t>
            </a:r>
          </a:p>
        </p:txBody>
      </p:sp>
      <p:sp>
        <p:nvSpPr>
          <p:cNvPr id="60" name="Section: Who it is for, and what it is worth"/>
          <p:cNvSpPr txBox="1"/>
          <p:nvPr/>
        </p:nvSpPr>
        <p:spPr>
          <a:xfrm>
            <a:off x="4182533" y="4083050"/>
            <a:ext cx="3826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31F20"/>
                </a:solidFill>
                <a:latin typeface="Calibri"/>
              </a:rPr>
              <a:t>Who it is for, and what it is worth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182533" y="4260850"/>
            <a:ext cx="1932706" cy="0"/>
          </a:xfrm>
          <a:prstGeom prst="line">
            <a:avLst/>
          </a:prstGeom>
          <a:ln w="12700">
            <a:solidFill>
              <a:srgbClr val="00A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Label: TAM"/>
          <p:cNvSpPr/>
          <p:nvPr/>
        </p:nvSpPr>
        <p:spPr>
          <a:xfrm>
            <a:off x="4182533" y="4337050"/>
            <a:ext cx="431800" cy="215900"/>
          </a:xfrm>
          <a:prstGeom prst="roundRect">
            <a:avLst>
              <a:gd name="adj" fmla="val 30000"/>
            </a:avLst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2533" y="4337050"/>
            <a:ext cx="4318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0533" y="4337050"/>
            <a:ext cx="9398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41.3 lakh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4933" y="4337050"/>
            <a:ext cx="2404533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616E"/>
                </a:solidFill>
                <a:latin typeface="Calibri"/>
              </a:rPr>
              <a:t>engineering students in India</a:t>
            </a:r>
          </a:p>
        </p:txBody>
      </p:sp>
      <p:sp>
        <p:nvSpPr>
          <p:cNvPr id="66" name="Label: SAM"/>
          <p:cNvSpPr/>
          <p:nvPr/>
        </p:nvSpPr>
        <p:spPr>
          <a:xfrm>
            <a:off x="4182533" y="4591050"/>
            <a:ext cx="431800" cy="215900"/>
          </a:xfrm>
          <a:prstGeom prst="roundRect">
            <a:avLst>
              <a:gd name="adj" fmla="val 30000"/>
            </a:avLst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82533" y="4591050"/>
            <a:ext cx="4318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90533" y="4591050"/>
            <a:ext cx="9398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15.6 lakh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04933" y="4591050"/>
            <a:ext cx="2404533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616E"/>
                </a:solidFill>
                <a:latin typeface="Calibri"/>
              </a:rPr>
              <a:t>electrical, electronics, mechanical</a:t>
            </a:r>
          </a:p>
        </p:txBody>
      </p:sp>
      <p:sp>
        <p:nvSpPr>
          <p:cNvPr id="70" name="Label: SOM"/>
          <p:cNvSpPr/>
          <p:nvPr/>
        </p:nvSpPr>
        <p:spPr>
          <a:xfrm>
            <a:off x="4182533" y="4845050"/>
            <a:ext cx="431800" cy="215900"/>
          </a:xfrm>
          <a:prstGeom prst="roundRect">
            <a:avLst>
              <a:gd name="adj" fmla="val 30000"/>
            </a:avLst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2533" y="4845050"/>
            <a:ext cx="4318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90533" y="4845050"/>
            <a:ext cx="9398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130 colleges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04933" y="4845050"/>
            <a:ext cx="2404533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616E"/>
                </a:solidFill>
                <a:latin typeface="Calibri"/>
              </a:rPr>
              <a:t>5% of 2,610, assumed</a:t>
            </a:r>
          </a:p>
        </p:txBody>
      </p:sp>
      <p:sp>
        <p:nvSpPr>
          <p:cNvPr id="74" name="Business"/>
          <p:cNvSpPr txBox="1"/>
          <p:nvPr/>
        </p:nvSpPr>
        <p:spPr>
          <a:xfrm>
            <a:off x="4182533" y="5137150"/>
            <a:ext cx="382693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Calibri"/>
              </a:rPr>
              <a:t>Free for students, paid for labs and teams. </a:t>
            </a:r>
            <a:r>
              <a:rPr sz="1000" b="0">
                <a:solidFill>
                  <a:srgbClr val="231F20"/>
                </a:solidFill>
                <a:latin typeface="Calibri"/>
              </a:rPr>
              <a:t>At an assumed ₹50,000 a lab, that is ₹65 lakh a year. </a:t>
            </a:r>
            <a:r>
              <a:rPr sz="1000" b="1">
                <a:solidFill>
                  <a:srgbClr val="231F20"/>
                </a:solidFill>
                <a:latin typeface="Calibri"/>
              </a:rPr>
              <a:t>Works with any cell</a:t>
            </a:r>
            <a:r>
              <a:rPr sz="1000" b="0">
                <a:solidFill>
                  <a:srgbClr val="231F20"/>
                </a:solidFill>
                <a:latin typeface="Calibri"/>
              </a:rPr>
              <a:t> through custom imports.</a:t>
            </a:r>
          </a:p>
        </p:txBody>
      </p:sp>
      <p:sp>
        <p:nvSpPr>
          <p:cNvPr id="75" name="Honest Finding"/>
          <p:cNvSpPr/>
          <p:nvPr/>
        </p:nvSpPr>
        <p:spPr>
          <a:xfrm>
            <a:off x="8187266" y="4083050"/>
            <a:ext cx="3826933" cy="157480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onest Finding text"/>
          <p:cNvSpPr txBox="1"/>
          <p:nvPr/>
        </p:nvSpPr>
        <p:spPr>
          <a:xfrm>
            <a:off x="8263466" y="4121150"/>
            <a:ext cx="3674533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0"/>
              </a:spcAft>
            </a:pPr>
            <a:r>
              <a:rPr sz="1000" b="1">
                <a:solidFill>
                  <a:srgbClr val="D9480F"/>
                </a:solidFill>
                <a:latin typeface="Calibri"/>
              </a:rPr>
              <a:t>Honest finding</a:t>
            </a:r>
          </a:p>
          <a:p>
            <a:pPr algn="l">
              <a:spcAft>
                <a:spcPts val="150"/>
              </a:spcAft>
            </a:pPr>
            <a:r>
              <a:rPr sz="1000" b="1">
                <a:solidFill>
                  <a:srgbClr val="231F20"/>
                </a:solidFill>
                <a:latin typeface="Calibri"/>
              </a:rPr>
              <a:t>Less margin: </a:t>
            </a:r>
            <a:r>
              <a:rPr sz="1000" b="0">
                <a:solidFill>
                  <a:srgbClr val="231F20"/>
                </a:solidFill>
                <a:latin typeface="Calibri"/>
              </a:rPr>
              <a:t>2 of 62 mixed samples were refused at 12 A, while all 62 passed at the Pi load.</a:t>
            </a:r>
          </a:p>
          <a:p>
            <a:pPr algn="l">
              <a:spcAft>
                <a:spcPts val="150"/>
              </a:spcAft>
            </a:pPr>
            <a:r>
              <a:rPr sz="1000" b="1">
                <a:solidFill>
                  <a:srgbClr val="231F20"/>
                </a:solidFill>
                <a:latin typeface="Calibri"/>
              </a:rPr>
              <a:t>No link option wins every case: </a:t>
            </a:r>
            <a:r>
              <a:rPr sz="1000" b="0">
                <a:solidFill>
                  <a:srgbClr val="231F20"/>
                </a:solidFill>
                <a:latin typeface="Calibri"/>
              </a:rPr>
              <a:t>moving the output to the far cell eased worst-case current from 5.49 to 5.33 A, yet raised peak current in 35 of 81 pairs.</a:t>
            </a:r>
          </a:p>
          <a:p>
            <a:pPr algn="l">
              <a:spcAft>
                <a:spcPts val="150"/>
              </a:spcAft>
            </a:pPr>
            <a:r>
              <a:rPr sz="1000" b="1">
                <a:solidFill>
                  <a:srgbClr val="231F20"/>
                </a:solidFill>
                <a:latin typeface="Calibri"/>
              </a:rPr>
              <a:t>Not proven: </a:t>
            </a:r>
            <a:r>
              <a:rPr sz="1000" b="0">
                <a:solidFill>
                  <a:srgbClr val="231F20"/>
                </a:solidFill>
                <a:latin typeface="Calibri"/>
              </a:rPr>
              <a:t>the board on two cells, a real Pi draw or measured accuracy. The saving is cells only.</a:t>
            </a:r>
          </a:p>
          <a:p>
            <a:pPr algn="l">
              <a:spcAft>
                <a:spcPts val="150"/>
              </a:spcAft>
            </a:pPr>
            <a:r>
              <a:rPr sz="1000" b="1">
                <a:solidFill>
                  <a:srgbClr val="231F20"/>
                </a:solidFill>
                <a:latin typeface="Calibri"/>
              </a:rPr>
              <a:t>Next, Round 2: </a:t>
            </a:r>
            <a:r>
              <a:rPr sz="1000" b="0">
                <a:solidFill>
                  <a:srgbClr val="231F20"/>
                </a:solidFill>
                <a:latin typeface="Calibri"/>
              </a:rPr>
              <a:t>bench-test two cells on the board and run user trials.</a:t>
            </a:r>
          </a:p>
        </p:txBody>
      </p:sp>
      <p:sp>
        <p:nvSpPr>
          <p:cNvPr id="77" name="So what"/>
          <p:cNvSpPr/>
          <p:nvPr/>
        </p:nvSpPr>
        <p:spPr>
          <a:xfrm>
            <a:off x="177800" y="5734050"/>
            <a:ext cx="11836400" cy="304800"/>
          </a:xfrm>
          <a:prstGeom prst="roundRect">
            <a:avLst>
              <a:gd name="adj" fmla="val 25000"/>
            </a:avLst>
          </a:prstGeom>
          <a:solidFill>
            <a:srgbClr val="1B5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o what text"/>
          <p:cNvSpPr txBox="1"/>
          <p:nvPr/>
        </p:nvSpPr>
        <p:spPr>
          <a:xfrm>
            <a:off x="279400" y="5734050"/>
            <a:ext cx="116332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 a design in seconds before you buy parts: </a:t>
            </a:r>
            <a:r>
              <a:rPr sz="1100" b="0">
                <a:solidFill>
                  <a:srgbClr val="FFFFFF"/>
                </a:solidFill>
                <a:latin typeface="Calibri"/>
              </a:rPr>
              <a:t>the tool found a smaller battery that still does the job in simulation, at half the cell cost and mass.</a:t>
            </a:r>
          </a:p>
        </p:txBody>
      </p:sp>
      <p:sp>
        <p:nvSpPr>
          <p:cNvPr id="79" name="Sources"/>
          <p:cNvSpPr txBox="1"/>
          <p:nvPr/>
        </p:nvSpPr>
        <p:spPr>
          <a:xfrm>
            <a:off x="177800" y="6089650"/>
            <a:ext cx="11836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56616E"/>
                </a:solidFill>
                <a:latin typeface="Calibri"/>
              </a:rPr>
              <a:t>Simulation, not hardware. </a:t>
            </a:r>
            <a:r>
              <a:rPr sz="750" b="0">
                <a:solidFill>
                  <a:srgbClr val="56616E"/>
                </a:solidFill>
                <a:latin typeface="Calibri"/>
              </a:rPr>
              <a:t>4,006 simulated cases on published LG M50T tables. Smallest qualifying design among the parallel arrangements tested. 8.42 A = 25 W ÷ (0.9 × 3.3 V), held constant. Prices checked 30 Oct 2026, excluding shipping and fabrication: Robu ₹1,206 incl. GST, out of stock; Geekworm US$52, one listing. Measured: Chen et al. 2020 (LG M50, zenodo.4032561) and Piombo et al. 2024 test 28 (M50T, 10.17632/zh58byr53c.2); low-cooling bars are post-hoc. Market: AISHE 2021-22; price and 5% reach are assumptions.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