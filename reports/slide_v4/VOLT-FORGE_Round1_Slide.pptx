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60" r:id="rId3"/>
    <p:sldId id="261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8" d="100"/>
          <a:sy n="88" d="100"/>
        </p:scale>
        <p:origin x="213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Simulation only. Nothing has been built or measured.</a:t>
            </a:r>
          </a:p>
          <a:p/>
          <a:p>
            <a:r>
              <a:t>Result: Smallest qualifying design among the parallel arrangements tested. Recommended: 2 LG M50T cells with the output at the far cell. 33 of 33 required Pi cases passed, worst-case cell current 5.33 A against a 7.275 A limit.</a:t>
            </a:r>
          </a:p>
          <a:p>
            <a:r>
              <a:t>Limits: 2 of 62 mixed samples were refused at the 12 A stress test; all 62 passed at the Pi load. No link option won every case.</a:t>
            </a:r>
          </a:p>
          <a:p>
            <a:r>
              <a:t>Mission: 25 W from the Raspberry Pi 5 supply recommendation, an assumed 90% converter and an assumed 3.3 V floor give 8.42 A, held constant as an approximation. Run time and room temperature are assumptions.</a:t>
            </a:r>
          </a:p>
          <a:p>
            <a:r>
              <a:t>Real data: all 12 pre-declared comparison cases missed their bands. Sources: Chen et al. 2020 (LG M50, zenodo.4032561) and Piombo et al. 2024 test 28 (M50T, 10.17632/zh58byr53c.2).</a:t>
            </a:r>
          </a:p>
          <a:p>
            <a:r>
              <a:t>Not proven: the Geekworm X1206 V2.0 board running on two cells, a real Pi draw, or measured accuracy.</a:t>
            </a:r>
          </a:p>
          <a:p>
            <a:r>
              <a:t>Cost: cells only, Robu LG M50T Rs 1,206 including GST, listed out of stock, checked 30 Oct 2026. Excludes shipping and fabrication.</a:t>
            </a:r>
          </a:p>
          <a:p>
            <a:r>
              <a:t>Market: AISHE 2021-22. The price of Rs 50,000 a lab and 5% reach are assumptions, and counts do not show willingness to pay.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9300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228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510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81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880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4319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744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817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928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8662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3546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4582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6340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8080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2583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1971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8276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1876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2313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2603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76204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74540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572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0066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9E0110-3D53-56A3-B428-F22C9DFF8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C273218-B2DB-AB44-5DFE-A9CB98F2A8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>
          <a:xfrm>
            <a:off x="20" y="0"/>
            <a:ext cx="12191980" cy="6856718"/>
          </a:xfrm>
          <a:prstGeom prst="rect">
            <a:avLst/>
          </a:prstGeom>
        </p:spPr>
      </p:pic>
      <p:pic>
        <p:nvPicPr>
          <p:cNvPr id="14" name="Content Placeholder 6">
            <a:extLst>
              <a:ext uri="{FF2B5EF4-FFF2-40B4-BE49-F238E27FC236}">
                <a16:creationId xmlns:a16="http://schemas.microsoft.com/office/drawing/2014/main" id="{DAC1E459-A0ED-D730-5E34-2662D85A746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346" b="34336"/>
          <a:stretch>
            <a:fillRect/>
          </a:stretch>
        </p:blipFill>
        <p:spPr>
          <a:xfrm>
            <a:off x="4504438" y="723899"/>
            <a:ext cx="3183124" cy="1028701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51E1DA9C-07E8-A7EE-F0F0-74A842D8366D}"/>
              </a:ext>
            </a:extLst>
          </p:cNvPr>
          <p:cNvSpPr txBox="1">
            <a:spLocks/>
          </p:cNvSpPr>
          <p:nvPr/>
        </p:nvSpPr>
        <p:spPr>
          <a:xfrm>
            <a:off x="4623106" y="1917655"/>
            <a:ext cx="2945788" cy="60602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Case Study 2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547F9FFC-5CA4-1C83-5E38-8DBBC6652E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80112" y="2912065"/>
            <a:ext cx="6231775" cy="760059"/>
          </a:xfrm>
        </p:spPr>
        <p:txBody>
          <a:bodyPr>
            <a:noAutofit/>
          </a:bodyPr>
          <a:lstStyle/>
          <a:p>
            <a:r>
              <a:rPr lang="en-US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Team Details</a:t>
            </a: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BC4B1A3C-0B9F-3BDB-8C06-470AADE518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81627" y="3652835"/>
            <a:ext cx="6231775" cy="1128427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21824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EA7B0-D290-F374-CB83-A8971125B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714" y="898058"/>
            <a:ext cx="10515600" cy="1325563"/>
          </a:xfrm>
        </p:spPr>
        <p:txBody>
          <a:bodyPr/>
          <a:lstStyle/>
          <a:p>
            <a:r>
              <a:t>Test a battery before you build it</a:t>
            </a:r>
          </a:p>
        </p:txBody>
      </p:sp>
      <p:pic>
        <p:nvPicPr>
          <p:cNvPr id="5" name="Picture 2" descr="od-banner">
            <a:extLst>
              <a:ext uri="{FF2B5EF4-FFF2-40B4-BE49-F238E27FC236}">
                <a16:creationId xmlns:a16="http://schemas.microsoft.com/office/drawing/2014/main" id="{F4826D9E-742D-0A39-8864-4C7889B0DC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81341" y="89039"/>
            <a:ext cx="803547" cy="567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27886EE-DB1A-217A-4691-1FAE55869FB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346" b="34336"/>
          <a:stretch>
            <a:fillRect/>
          </a:stretch>
        </p:blipFill>
        <p:spPr>
          <a:xfrm>
            <a:off x="0" y="14083"/>
            <a:ext cx="2361332" cy="763120"/>
          </a:xfrm>
          <a:prstGeom prst="rect">
            <a:avLst/>
          </a:prstGeom>
        </p:spPr>
      </p:pic>
      <p:pic>
        <p:nvPicPr>
          <p:cNvPr id="8" name="VOLT-FORGE Round 1 slide" descr="VOLT-FORGE: the seven rubric criteria around the working app, with its canvas and test verdict at the centre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644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6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Custom Design</vt:lpstr>
      <vt:lpstr>Team Details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Aaquib Jawaid</dc:creator>
  <cp:lastModifiedBy>Fatima Ameer</cp:lastModifiedBy>
  <cp:revision>7</cp:revision>
  <dcterms:created xsi:type="dcterms:W3CDTF">2024-10-25T17:59:13Z</dcterms:created>
  <dcterms:modified xsi:type="dcterms:W3CDTF">2026-09-23T11:32:25Z</dcterms:modified>
</cp:coreProperties>
</file>